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요청/s</c:v>
                </c:pt>
              </c:strCache>
            </c:strRef>
          </c:tx>
          <c:spPr>
            <a:solidFill>
              <a:srgbClr val="8A8078"/>
            </a:solidFill>
            <a:ln w="31750" cap="flat">
              <a:solidFill>
                <a:srgbClr val="8A80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8078"/>
              </a:solidFill>
              <a:ln w="9525" cap="flat">
                <a:solidFill>
                  <a:srgbClr val="8A80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0m</c:v>
                  </c:pt>
                  <c:pt idx="1">
                    <c:v>2m</c:v>
                  </c:pt>
                  <c:pt idx="2">
                    <c:v>4m</c:v>
                  </c:pt>
                  <c:pt idx="3">
                    <c:v>6m</c:v>
                  </c:pt>
                  <c:pt idx="4">
                    <c:v>8m</c:v>
                  </c:pt>
                  <c:pt idx="5">
                    <c:v>10m</c:v>
                  </c:pt>
                  <c:pt idx="6">
                    <c:v>12m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</c:v>
                </c:pt>
                <c:pt idx="1">
                  <c:v>150</c:v>
                </c:pt>
                <c:pt idx="2">
                  <c:v>400</c:v>
                </c:pt>
                <c:pt idx="3">
                  <c:v>800</c:v>
                </c:pt>
                <c:pt idx="4">
                  <c:v>800</c:v>
                </c:pt>
                <c:pt idx="5">
                  <c:v>400</c:v>
                </c:pt>
                <c:pt idx="6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 수 ×100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0m</c:v>
                  </c:pt>
                  <c:pt idx="1">
                    <c:v>2m</c:v>
                  </c:pt>
                  <c:pt idx="2">
                    <c:v>4m</c:v>
                  </c:pt>
                  <c:pt idx="3">
                    <c:v>6m</c:v>
                  </c:pt>
                  <c:pt idx="4">
                    <c:v>8m</c:v>
                  </c:pt>
                  <c:pt idx="5">
                    <c:v>10m</c:v>
                  </c:pt>
                  <c:pt idx="6">
                    <c:v>12m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200</c:v>
                </c:pt>
                <c:pt idx="1">
                  <c:v>200</c:v>
                </c:pt>
                <c:pt idx="2">
                  <c:v>400</c:v>
                </c:pt>
                <c:pt idx="3">
                  <c:v>700</c:v>
                </c:pt>
                <c:pt idx="4">
                  <c:v>800</c:v>
                </c:pt>
                <c:pt idx="5">
                  <c:v>500</c:v>
                </c:pt>
                <c:pt idx="6">
                  <c:v>200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노드 수 ×100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0m</c:v>
                  </c:pt>
                  <c:pt idx="1">
                    <c:v>2m</c:v>
                  </c:pt>
                  <c:pt idx="2">
                    <c:v>4m</c:v>
                  </c:pt>
                  <c:pt idx="3">
                    <c:v>6m</c:v>
                  </c:pt>
                  <c:pt idx="4">
                    <c:v>8m</c:v>
                  </c:pt>
                  <c:pt idx="5">
                    <c:v>10m</c:v>
                  </c:pt>
                  <c:pt idx="6">
                    <c:v>12m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400</c:v>
                </c:pt>
                <c:pt idx="6">
                  <c:v>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DB2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440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DB2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2A24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76078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6002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+ AWS — 컨테이너 오케스트레이션 인프라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1071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150876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341071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35024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51460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472" y="3410712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340864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352044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3410712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46704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52628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3410712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352544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553212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0992" y="341071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58384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[팀명]  ·  2026.07  ·  </a:t>
            </a:r>
            <a:pPr indent="0" marL="0">
              <a:buNone/>
            </a:pPr>
            <a:r>
              <a:rPr lang="en-US" sz="1400" i="1" dirty="0">
                <a:solidFill>
                  <a:srgbClr val="D9A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v0.2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위에 컨테이너 기반 웹 서비스를 구축하고, '운영 가능함'을 실측으로 증명한다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만드나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 한 줄 설명]
프론트 SPA + 백엔드 API + RDB/캐시 구성의 웹 서비스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 다른가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프로젝트(EC2 기반)의 검증된 패턴을 계승하되,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컴퓨트 계층을 처음부터 EKS 네이티브로 재설계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6280" y="13258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322A2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90872" y="14904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34" y="1599834"/>
            <a:ext cx="201900" cy="20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90872" y="2011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100%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90872" y="2313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콘솔 수작업 0건,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한 번으로 재현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75120" y="13258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322A2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39712" y="14904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074" y="1599834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9712" y="2011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 오토스케일링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39712" y="2313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HPA(Pod) + Cluster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Autoscaler(노드)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26280" y="310896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322A2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90872" y="327355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234" y="3382914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90872" y="3794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무중단 배포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690872" y="40965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기반 CI/CD,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롤링 업데이트 + 자동 롤백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675120" y="310896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322A2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39712" y="327355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074" y="3382914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39712" y="3794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통제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839712" y="40965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토글 변수,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[$N] 이내 운영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출발점 — 2차 프로젝트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· EC2 Auto Scaling 기반 (draw.io 원본)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496491" cy="39319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arch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322217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1371600"/>
            <a:ext cx="4480560" cy="1024128"/>
          </a:xfrm>
          <a:prstGeom prst="roundRect">
            <a:avLst>
              <a:gd name="adj" fmla="val 7143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6276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7465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1490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 가져올 것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029200" y="1783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 서브넷 · fck-nat · 오리진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CloudFront+WAF · KMS · OIDC CI/CD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0" y="2542032"/>
            <a:ext cx="4480560" cy="1024128"/>
          </a:xfrm>
          <a:prstGeom prst="roundRect">
            <a:avLst>
              <a:gd name="adj" fmla="val 7143"/>
            </a:avLst>
          </a:prstGeom>
          <a:solidFill>
            <a:srgbClr val="322A2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89120" y="279806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91693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29200" y="2660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바꿀 것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029200" y="29535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ASG → EKS 노드그룹 + Pod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CodeDeploy → K8s 롤링 배포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206240" y="3712464"/>
            <a:ext cx="4480560" cy="1024128"/>
          </a:xfrm>
          <a:prstGeom prst="roundRect">
            <a:avLst>
              <a:gd name="adj" fmla="val 7143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389120" y="39684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4087368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0" y="3831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2차의 교훈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029200" y="41239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tfstate 협업 충돌,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인스턴스 병목 → 엔드포인트로 해소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 (ap-northeast-2) · 2AZ · 3계층 서브넷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
</a:t>
            </a:r>
            <a:pPr algn="ctr" indent="0" marL="0">
              <a:buNone/>
            </a:pPr>
            <a:r>
              <a:rPr lang="en-US" sz="9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53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984248"/>
            <a:ext cx="274320" cy="0"/>
          </a:xfrm>
          <a:prstGeom prst="line">
            <a:avLst/>
          </a:prstGeom>
          <a:noFill/>
          <a:ln w="2540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6002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D97706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
</a:t>
            </a:r>
            <a:pPr algn="ctr" indent="0" marL="0">
              <a:buNone/>
            </a:pPr>
            <a:r>
              <a:rPr lang="en-US" sz="950" dirty="0">
                <a:solidFill>
                  <a:srgbClr val="F5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WAF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1984248"/>
            <a:ext cx="274320" cy="0"/>
          </a:xfrm>
          <a:prstGeom prst="line">
            <a:avLst/>
          </a:prstGeom>
          <a:noFill/>
          <a:ln w="2540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16002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D97706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
</a:t>
            </a:r>
            <a:pPr algn="ctr" indent="0" marL="0">
              <a:buNone/>
            </a:pPr>
            <a:r>
              <a:rPr lang="en-US" sz="950" dirty="0">
                <a:solidFill>
                  <a:srgbClr val="F5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오리진 검증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1984248"/>
            <a:ext cx="274320" cy="0"/>
          </a:xfrm>
          <a:prstGeom prst="line">
            <a:avLst/>
          </a:prstGeom>
          <a:noFill/>
          <a:ln w="2540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2160" y="160020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EA580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1600200"/>
            <a:ext cx="28346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Pod
</a:t>
            </a:r>
            <a:pPr algn="ctr" indent="0" marL="0">
              <a:buNone/>
            </a:pPr>
            <a:r>
              <a:rPr lang="en-US" sz="950" dirty="0">
                <a:solidFill>
                  <a:srgbClr val="F5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TargetGroupBinding · HPA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269748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322A24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788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클러스터 (프라이빗 서브넷)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0" y="309067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관리형 노드그룹 t3.medium 2~6  ·  Cluster Autoscaler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Controller · External Secrets · EFS CSI (IRSA)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697480"/>
            <a:ext cx="15544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MariaDB
</a:t>
            </a:r>
            <a:pPr algn="ctr" indent="0" marL="0">
              <a:buNone/>
            </a:pPr>
            <a:r>
              <a:rPr lang="en-US" sz="9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 서브넷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47288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47288"/>
            <a:ext cx="15544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
</a:t>
            </a:r>
            <a:pPr algn="ctr" indent="0" marL="0">
              <a:buNone/>
            </a:pPr>
            <a:r>
              <a:rPr lang="en-US" sz="9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 서브넷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40280" y="2697480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40280" y="2697480"/>
            <a:ext cx="15544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
</a:t>
            </a:r>
            <a:pPr algn="ctr" indent="0" marL="0">
              <a:buNone/>
            </a:pPr>
            <a:r>
              <a:rPr lang="en-US" sz="9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스토리지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40280" y="3447288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40280" y="3447288"/>
            <a:ext cx="15544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fck-nat + VPCe
</a:t>
            </a:r>
            <a:pPr algn="ctr" indent="0" marL="0">
              <a:buNone/>
            </a:pPr>
            <a:r>
              <a:rPr lang="en-US" sz="9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아웃바운드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0" y="3337560"/>
            <a:ext cx="256032" cy="0"/>
          </a:xfrm>
          <a:prstGeom prst="line">
            <a:avLst/>
          </a:prstGeom>
          <a:noFill/>
          <a:ln w="25400">
            <a:solidFill>
              <a:srgbClr val="8A80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CI/CD:  GitHub Actions(OIDC) → 이미지 빌드 → ECR → kubectl rollout  ·  관측: Container Insights / Grafana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상세 다이어그램은 draw.io 별첨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결정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결정은 ADR(Architecture Decision Record)로 레포에 기록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3154680"/>
          </a:xfrm>
          <a:prstGeom prst="roundRect">
            <a:avLst>
              <a:gd name="adj" fmla="val 2712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17309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64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5880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vs 셀프호스팅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채택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 플레인 운영(etcd·인증서·업그레이드)을 AWS에 위임하고 앱 계층에 집중. 비용은 apply/destroy 운용으로 통제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1371600"/>
            <a:ext cx="2697480" cy="3154680"/>
          </a:xfrm>
          <a:prstGeom prst="roundRect">
            <a:avLst>
              <a:gd name="adj" fmla="val 2712"/>
            </a:avLst>
          </a:prstGeom>
          <a:solidFill>
            <a:srgbClr val="322A2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84448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207" y="173095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24528" y="1664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224528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관리 주체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84448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ALB + TGB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84448" y="2788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생성 대신 테라폼 ALB 유지. CloudFront 오리진 고정과 X-Origin-Verify 룰을 IaC로 보존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54496" y="1371600"/>
            <a:ext cx="2697480" cy="3154680"/>
          </a:xfrm>
          <a:prstGeom prst="roundRect">
            <a:avLst>
              <a:gd name="adj" fmla="val 2712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83096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855" y="173095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23176" y="1664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123176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오토스케일러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83096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Autoscaler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483096" y="2788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노드그룹 2~6대 규모엔 CA가 예측 가능하고 충분. 스팟 혼합 필요 시점에 Karpenter 재검토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설계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기준을 학습 환경에도 동일하게 적용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322A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15023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807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오리진 검증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74720" y="13258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CloudFront가 부착한 X-Origin-Verify 헤더가 일치할 때만 ALB가 응답 — ALB 직접 호출은 403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502920" cy="502920"/>
          </a:xfrm>
          <a:prstGeom prst="ellipse">
            <a:avLst/>
          </a:prstGeom>
          <a:solidFill>
            <a:srgbClr val="322A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234360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221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IRSA 최소권한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21671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앱·컨트롤러·시크릿 오퍼레이터가 각자의 IAM Role — 노드 권한과 분리, 액세스 키 0개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054096"/>
            <a:ext cx="502920" cy="502920"/>
          </a:xfrm>
          <a:prstGeom prst="ellipse">
            <a:avLst/>
          </a:prstGeom>
          <a:solidFill>
            <a:srgbClr val="322A2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3184855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 서브넷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474720" y="300837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퍼블릭(엣지) / 프라이빗(EKS) / 격리(DB·캐시) — DB는 인터넷 경로 자체가 없음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322A2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4026103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904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구간 암호화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474720" y="384962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고객관리형 키로 RDS·EFS·EBS·시크릿 암호화, Redis 전송 구간 TLS + AUTH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파이프라인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액세스 키 없는 배포 — push부터 rollout까지 사람 손 0번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3A2E24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1920240"/>
            <a:ext cx="603504" cy="603504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99" y="207715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648" y="3017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plan + tfsec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Infracost 코멘트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50592" y="2743200"/>
            <a:ext cx="237744" cy="0"/>
          </a:xfrm>
          <a:prstGeom prst="line">
            <a:avLst/>
          </a:prstGeom>
          <a:noFill/>
          <a:ln w="31750">
            <a:solidFill>
              <a:srgbClr val="6B5D5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15768" y="16916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3A2E24"/>
          </a:solidFill>
          <a:ln/>
        </p:spPr>
      </p:sp>
      <p:sp>
        <p:nvSpPr>
          <p:cNvPr id="12" name="Shape 9"/>
          <p:cNvSpPr/>
          <p:nvPr/>
        </p:nvSpPr>
        <p:spPr>
          <a:xfrm>
            <a:off x="3374136" y="1920240"/>
            <a:ext cx="603504" cy="603504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047" y="2077151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5768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825496" y="3017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임시 자격증명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(액세스 키 없음)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2743200"/>
            <a:ext cx="237744" cy="0"/>
          </a:xfrm>
          <a:prstGeom prst="line">
            <a:avLst/>
          </a:prstGeom>
          <a:noFill/>
          <a:ln w="31750">
            <a:solidFill>
              <a:srgbClr val="6B5D50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928616" y="16916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3A2E24"/>
          </a:solidFill>
          <a:ln/>
        </p:spPr>
      </p:sp>
      <p:sp>
        <p:nvSpPr>
          <p:cNvPr id="18" name="Shape 14"/>
          <p:cNvSpPr/>
          <p:nvPr/>
        </p:nvSpPr>
        <p:spPr>
          <a:xfrm>
            <a:off x="5586984" y="1920240"/>
            <a:ext cx="603504" cy="603504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895" y="2077151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8616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038344" y="3017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빌드·푸시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 스캔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76288" y="2743200"/>
            <a:ext cx="237744" cy="0"/>
          </a:xfrm>
          <a:prstGeom prst="line">
            <a:avLst/>
          </a:prstGeom>
          <a:noFill/>
          <a:ln w="31750">
            <a:solidFill>
              <a:srgbClr val="6B5D50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141464" y="16916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3A2E24"/>
          </a:solidFill>
          <a:ln/>
        </p:spPr>
      </p:sp>
      <p:sp>
        <p:nvSpPr>
          <p:cNvPr id="24" name="Shape 19"/>
          <p:cNvSpPr/>
          <p:nvPr/>
        </p:nvSpPr>
        <p:spPr>
          <a:xfrm>
            <a:off x="7799832" y="1920240"/>
            <a:ext cx="603504" cy="603504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6743" y="2077151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41464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Rollout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251192" y="3017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롤링 업데이트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자동 undo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시간 목표  &lt;5분  ·  롤백  1커맨드(kubectl rollout undo)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 오토스케일링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테스트(k6)로 실측 — 발표의 핵심 데모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26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예시 곡선 — 실제 부하 테스트 결과로 교체 예정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트래픽 급증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0" y="1682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k6로 800 req/s 부하 주입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2441448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반응 (초 단위)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0" y="27066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임계 초과 → Pod 2 → 8 증설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465576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4"/>
          <p:cNvSpPr/>
          <p:nvPr/>
        </p:nvSpPr>
        <p:spPr>
          <a:xfrm>
            <a:off x="58064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반응 (분 단위)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00800" y="3730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Pod 감지 → 노드 2 → 4 증설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"상시 가동"이 아니라 "필요할 때만" — IaC라서 가능한 운용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시간당 전체 스택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+ 노드 2대 + 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엣지 계층 포함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0048" y="14630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0048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807208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예상 (주 20h)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07208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apply/destroy 운용 기준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알람으로 상한 관리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82896" y="14630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82896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0056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토글 변수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0056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enable_ha 하나로 Multi-AZ·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레플리카·삭제보호 일괄 제어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95744" y="14630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322A2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95744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-$42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232904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NAT 절감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32904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GW 대신 fck-nat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ECR VPC 엔드포인트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발표·데모 시에만 enable_ha = true — 코드에는 프로덕션 설계가, 청구서에는 학습 예산이 남는다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시나리오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구축했다가 아니라, 동작한다 — 4가지 실측 데모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572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스케일링 실측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k6 부하 → HPA Pod 증설 → CA 노드 증설, Grafana 그래프로 제시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00600" y="13716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01768" y="1572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9164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무중단 배포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23560" y="18928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중 초당 응답률 그래프 — rollout 전후 에러율 0 확인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172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주입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280160" y="3493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1대 강제 종료 → Pod 재스케줄링 → 서비스 무영향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800600" y="29718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A242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01768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9184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3172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검증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623560" y="3493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직접 호출 403, IRSA 권한 밖 API 호출 실패 로그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73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[서비스명] · 3차 프로젝트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및 협업 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[N]주 · 모듈 단위 오너십 + 상호 리뷰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691640"/>
            <a:ext cx="566928" cy="0"/>
          </a:xfrm>
          <a:prstGeom prst="line">
            <a:avLst/>
          </a:prstGeom>
          <a:noFill/>
          <a:ln w="31750">
            <a:solidFill>
              <a:srgbClr val="4A4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레포·S3 백엔드,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+ 데이터 계층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60904" y="141732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266090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55264" y="1691640"/>
            <a:ext cx="566928" cy="0"/>
          </a:xfrm>
          <a:prstGeom prst="line">
            <a:avLst/>
          </a:prstGeom>
          <a:noFill/>
          <a:ln w="31750">
            <a:solidFill>
              <a:srgbClr val="4A4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2264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112264" y="23957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클러스터·애드온,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컨테이너화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61688" y="141732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436168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56048" y="1691640"/>
            <a:ext cx="566928" cy="0"/>
          </a:xfrm>
          <a:prstGeom prst="line">
            <a:avLst/>
          </a:prstGeom>
          <a:noFill/>
          <a:ln w="31750">
            <a:solidFill>
              <a:srgbClr val="4A4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304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13048" y="23957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CI/CD, 엣지 연결,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트래픽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62472" y="14173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06247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56832" y="1691640"/>
            <a:ext cx="566928" cy="0"/>
          </a:xfrm>
          <a:prstGeom prst="line">
            <a:avLst/>
          </a:prstGeom>
          <a:noFill/>
          <a:ln w="31750">
            <a:solidFill>
              <a:srgbClr val="4A40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513832" y="23957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부하·장애 테스트,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대시보드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63256" y="14173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776325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14616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마무리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214616" y="23957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문서화(ADR),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준비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322A24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오너십: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[A] · data [B] · eks [C] · edge [D]  — 전원 상호 리뷰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장치: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5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PR마다 terraform plan 자동 코멘트 + tfsec 스캔 + Infracost 비용 diff → main 머지 시 apply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구축을 넘어, 운영을 증명한다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100%  ·  EKS 2단 오토스케일링  ·  무중단 배포  ·  실측 데이터 기반 검증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82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테스트 실측 그래프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306324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31821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검증 로그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89320" y="306324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1821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복구 시연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 ·  팀 [팀명]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[서비스명] 3차 프로젝트 — Kubernetes + AWS</dc:title>
  <dc:subject>PptxGenJS Presentation</dc:subject>
  <dc:creator>PptxGenJS</dc:creator>
  <cp:lastModifiedBy>PptxGenJS</cp:lastModifiedBy>
  <cp:revision>1</cp:revision>
  <dcterms:created xsi:type="dcterms:W3CDTF">2026-07-02T14:31:01Z</dcterms:created>
  <dcterms:modified xsi:type="dcterms:W3CDTF">2026-07-02T14:31:01Z</dcterms:modified>
</cp:coreProperties>
</file>