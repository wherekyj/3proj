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658368" y="2331720"/>
            <a:ext cx="6217920" cy="320040"/>
          </a:xfrm>
          <a:prstGeom prst="rect">
            <a:avLst/>
          </a:prstGeom>
          <a:noFill/>
          <a:ln/>
        </p:spPr>
        <p:txBody>
          <a:bodyPr wrap="square" lIns="0" tIns="0" rIns="0" bIns="0" rtlCol="0" anchor="ctr"/>
          <a:lstStyle/>
          <a:p>
            <a:pPr indent="0" marL="0">
              <a:buNone/>
            </a:pPr>
            <a:r>
              <a:rPr lang="en-US" sz="1500" dirty="0">
                <a:solidFill>
                  <a:srgbClr val="C7B8A8"/>
                </a:solidFill>
                <a:latin typeface="Arial" pitchFamily="34" charset="0"/>
                <a:ea typeface="Arial" pitchFamily="34" charset="-122"/>
                <a:cs typeface="Arial" pitchFamily="34" charset="-120"/>
              </a:rPr>
              <a:t>3차 프로젝트 · 인프라 설계 보고서</a:t>
            </a:r>
            <a:endParaRPr lang="en-US" sz="1500" dirty="0"/>
          </a:p>
        </p:txBody>
      </p:sp>
      <p:sp>
        <p:nvSpPr>
          <p:cNvPr id="4" name="Text 1"/>
          <p:cNvSpPr/>
          <p:nvPr/>
        </p:nvSpPr>
        <p:spPr>
          <a:xfrm>
            <a:off x="658368" y="2743200"/>
            <a:ext cx="62179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[서비스명]</a:t>
            </a:r>
            <a:endParaRPr lang="en-US" sz="4400" dirty="0"/>
          </a:p>
        </p:txBody>
      </p:sp>
      <p:sp>
        <p:nvSpPr>
          <p:cNvPr id="5" name="Text 2"/>
          <p:cNvSpPr/>
          <p:nvPr/>
        </p:nvSpPr>
        <p:spPr>
          <a:xfrm>
            <a:off x="658368" y="3703320"/>
            <a:ext cx="6309360" cy="365760"/>
          </a:xfrm>
          <a:prstGeom prst="rect">
            <a:avLst/>
          </a:prstGeom>
          <a:noFill/>
          <a:ln/>
        </p:spPr>
        <p:txBody>
          <a:bodyPr wrap="square" lIns="0" tIns="0" rIns="0" bIns="0" rtlCol="0" anchor="ctr"/>
          <a:lstStyle/>
          <a:p>
            <a:pPr indent="0" marL="0">
              <a:buNone/>
            </a:pPr>
            <a:r>
              <a:rPr lang="en-US" sz="1350" dirty="0">
                <a:solidFill>
                  <a:srgbClr val="F5C9A8"/>
                </a:solidFill>
                <a:latin typeface="Arial" pitchFamily="34" charset="0"/>
                <a:ea typeface="Arial" pitchFamily="34" charset="-122"/>
                <a:cs typeface="Arial" pitchFamily="34" charset="-120"/>
              </a:rPr>
              <a:t>Kubernetes + AWS — 컨테이너 오케스트레이션 인프라 설계 · 구축 · 운영</a:t>
            </a:r>
            <a:endParaRPr lang="en-US" sz="1350" dirty="0"/>
          </a:p>
        </p:txBody>
      </p:sp>
      <p:sp>
        <p:nvSpPr>
          <p:cNvPr id="6" name="Text 3"/>
          <p:cNvSpPr/>
          <p:nvPr/>
        </p:nvSpPr>
        <p:spPr>
          <a:xfrm>
            <a:off x="658368" y="6720840"/>
            <a:ext cx="6217920" cy="274320"/>
          </a:xfrm>
          <a:prstGeom prst="rect">
            <a:avLst/>
          </a:prstGeom>
          <a:noFill/>
          <a:ln/>
        </p:spPr>
        <p:txBody>
          <a:bodyPr wrap="square" lIns="0" tIns="0" rIns="0" bIns="0" rtlCol="0" anchor="ctr"/>
          <a:lstStyle/>
          <a:p>
            <a:pPr indent="0" marL="0">
              <a:buNone/>
            </a:pPr>
            <a:r>
              <a:rPr lang="en-US" sz="1150" dirty="0">
                <a:solidFill>
                  <a:srgbClr val="C7B8A8"/>
                </a:solidFill>
                <a:latin typeface="Arial" pitchFamily="34" charset="0"/>
                <a:ea typeface="Arial" pitchFamily="34" charset="-122"/>
                <a:cs typeface="Arial" pitchFamily="34" charset="-120"/>
              </a:rPr>
              <a:t>팀 [팀명]  ·  2026. 07  ·  초안 v0.2</a:t>
            </a:r>
            <a:endParaRPr lang="en-US" sz="1150" dirty="0"/>
          </a:p>
        </p:txBody>
      </p:sp>
      <p:sp>
        <p:nvSpPr>
          <p:cNvPr id="7" name="Text 4"/>
          <p:cNvSpPr/>
          <p:nvPr/>
        </p:nvSpPr>
        <p:spPr>
          <a:xfrm>
            <a:off x="658368" y="7059168"/>
            <a:ext cx="6217920" cy="256032"/>
          </a:xfrm>
          <a:prstGeom prst="rect">
            <a:avLst/>
          </a:prstGeom>
          <a:noFill/>
          <a:ln/>
        </p:spPr>
        <p:txBody>
          <a:bodyPr wrap="square" lIns="0" tIns="0" rIns="0" bIns="0" rtlCol="0" anchor="ctr"/>
          <a:lstStyle/>
          <a:p>
            <a:pPr indent="0" marL="0">
              <a:buNone/>
            </a:pPr>
            <a:r>
              <a:rPr lang="en-US" sz="950" i="1" dirty="0">
                <a:solidFill>
                  <a:srgbClr val="A8906F"/>
                </a:solidFill>
                <a:latin typeface="Arial" pitchFamily="34" charset="0"/>
                <a:ea typeface="Arial" pitchFamily="34" charset="-122"/>
                <a:cs typeface="Arial" pitchFamily="34" charset="-120"/>
              </a:rPr>
              <a:t>※ [대괄호] 항목은 팀 논의 후 확정</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4"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2</a:t>
            </a:r>
            <a:endParaRPr lang="en-US" sz="850" dirty="0"/>
          </a:p>
        </p:txBody>
      </p:sp>
      <p:sp>
        <p:nvSpPr>
          <p:cNvPr id="5"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1.  </a:t>
            </a:r>
            <a:pPr indent="0" marL="0">
              <a:buNone/>
            </a:pPr>
            <a:r>
              <a:rPr lang="en-US" sz="1700" b="1" dirty="0">
                <a:solidFill>
                  <a:srgbClr val="FFFFFF"/>
                </a:solidFill>
                <a:latin typeface="Arial" pitchFamily="34" charset="0"/>
                <a:ea typeface="Arial" pitchFamily="34" charset="-122"/>
                <a:cs typeface="Arial" pitchFamily="34" charset="-120"/>
              </a:rPr>
              <a:t>프로젝트 개요</a:t>
            </a:r>
            <a:endParaRPr lang="en-US" sz="1700" dirty="0"/>
          </a:p>
        </p:txBody>
      </p:sp>
      <p:sp>
        <p:nvSpPr>
          <p:cNvPr id="6" name="Text 3"/>
          <p:cNvSpPr/>
          <p:nvPr/>
        </p:nvSpPr>
        <p:spPr>
          <a:xfrm>
            <a:off x="566928" y="978408"/>
            <a:ext cx="6428232" cy="96012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3차 팀 프로젝트로, Kubernetes와 AWS를 결합한 컨테이너 오케스트레이션 인프라 위에 웹 서비스를 구축·운영한다. 단순히 "동작하는 인프라"를 만드는 것을 넘어, 오토스케일링·무중단 배포·장애 복구가 실제로 동작함을 부하 테스트와 장애 주입으로 실측 증명하는 것까지를 프로젝트의 범위로 정의한다. 모든 인프라는 Terraform으로 코드화하며(콘솔 수작업 0건), 컴퓨트 계층은 처음부터 EKS 네이티브로 설계한다.</a:t>
            </a:r>
            <a:endParaRPr lang="en-US" sz="1050" dirty="0"/>
          </a:p>
        </p:txBody>
      </p:sp>
      <p:sp>
        <p:nvSpPr>
          <p:cNvPr id="7" name="Text 4"/>
          <p:cNvSpPr/>
          <p:nvPr/>
        </p:nvSpPr>
        <p:spPr>
          <a:xfrm>
            <a:off x="566928" y="2029968"/>
            <a:ext cx="6428232" cy="384048"/>
          </a:xfrm>
          <a:prstGeom prst="rect">
            <a:avLst/>
          </a:prstGeom>
          <a:noFill/>
          <a:ln/>
        </p:spPr>
        <p:txBody>
          <a:bodyPr wrap="square" lIns="0" tIns="0" rIns="0" bIns="0" rtlCol="0" anchor="t"/>
          <a:lstStyle/>
          <a:p>
            <a:pPr indent="0" marL="0">
              <a:lnSpc>
                <a:spcPct val="122000"/>
              </a:lnSpc>
              <a:buNone/>
            </a:pPr>
            <a:r>
              <a:rPr lang="en-US" sz="1050" dirty="0">
                <a:solidFill>
                  <a:srgbClr val="BDB2A7"/>
                </a:solidFill>
                <a:latin typeface="Arial" pitchFamily="34" charset="0"/>
                <a:ea typeface="Arial" pitchFamily="34" charset="-122"/>
                <a:cs typeface="Arial" pitchFamily="34" charset="-120"/>
              </a:rPr>
              <a:t>서비스 개요: [서비스 한 줄 설명 — 예: OO를 위한 웹 애플리케이션. 프론트 SPA + 백엔드 API + RDB/캐시 구성]</a:t>
            </a:r>
            <a:endParaRPr lang="en-US" sz="1050" dirty="0"/>
          </a:p>
        </p:txBody>
      </p:sp>
      <p:sp>
        <p:nvSpPr>
          <p:cNvPr id="8" name="Text 5"/>
          <p:cNvSpPr/>
          <p:nvPr/>
        </p:nvSpPr>
        <p:spPr>
          <a:xfrm>
            <a:off x="566928" y="2642616"/>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2.  </a:t>
            </a:r>
            <a:pPr indent="0" marL="0">
              <a:buNone/>
            </a:pPr>
            <a:r>
              <a:rPr lang="en-US" sz="1700" b="1" dirty="0">
                <a:solidFill>
                  <a:srgbClr val="FFFFFF"/>
                </a:solidFill>
                <a:latin typeface="Arial" pitchFamily="34" charset="0"/>
                <a:ea typeface="Arial" pitchFamily="34" charset="-122"/>
                <a:cs typeface="Arial" pitchFamily="34" charset="-120"/>
              </a:rPr>
              <a:t>목표</a:t>
            </a:r>
            <a:endParaRPr lang="en-US" sz="1700" dirty="0"/>
          </a:p>
        </p:txBody>
      </p:sp>
      <p:sp>
        <p:nvSpPr>
          <p:cNvPr id="9" name="Text 6"/>
          <p:cNvSpPr/>
          <p:nvPr/>
        </p:nvSpPr>
        <p:spPr>
          <a:xfrm>
            <a:off x="612648" y="3118104"/>
            <a:ext cx="6382512" cy="14630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IaC 100% — 콘솔 수작업 0건, terraform apply 한 번으로 전체 환경 재현</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EKS 기반 컨테이너 오케스트레이션 — HPA(Pod)와 Cluster Autoscaler(노드)의 2단 오토스케일링</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GitOps형 CI/CD — GitHub Actions(OIDC, 액세스 키 없음) → ECR → EKS 무중단 롤링 배포</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프로덕션급 보안 — 격리 서브넷, IRSA 최소권한, 전 구간 KMS 암호화, WAF + 오리진 검증</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비용 통제 — HA 토글 변수와 apply/destroy 운용으로 학습 기간 월 [$N] 이내 유지</a:t>
            </a:r>
            <a:endParaRPr lang="en-US" sz="1050" dirty="0"/>
          </a:p>
        </p:txBody>
      </p:sp>
      <p:sp>
        <p:nvSpPr>
          <p:cNvPr id="10" name="Text 7"/>
          <p:cNvSpPr/>
          <p:nvPr/>
        </p:nvSpPr>
        <p:spPr>
          <a:xfrm>
            <a:off x="566928" y="4809744"/>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3.  </a:t>
            </a:r>
            <a:pPr indent="0" marL="0">
              <a:buNone/>
            </a:pPr>
            <a:r>
              <a:rPr lang="en-US" sz="1700" b="1" dirty="0">
                <a:solidFill>
                  <a:srgbClr val="FFFFFF"/>
                </a:solidFill>
                <a:latin typeface="Arial" pitchFamily="34" charset="0"/>
                <a:ea typeface="Arial" pitchFamily="34" charset="-122"/>
                <a:cs typeface="Arial" pitchFamily="34" charset="-120"/>
              </a:rPr>
              <a:t>설계 배경</a:t>
            </a:r>
            <a:endParaRPr lang="en-US" sz="1700" dirty="0"/>
          </a:p>
        </p:txBody>
      </p:sp>
      <p:sp>
        <p:nvSpPr>
          <p:cNvPr id="11" name="Text 8"/>
          <p:cNvSpPr/>
          <p:nvPr/>
        </p:nvSpPr>
        <p:spPr>
          <a:xfrm>
            <a:off x="566928" y="5285232"/>
            <a:ext cx="6428232" cy="77724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본 설계는 팀원 일부가 참여했던 2차 프로젝트 CARE(EC2 Auto Scaling 기반, 부록 A 참조)에서 검증된 패턴을 출발점으로 삼는다. 3계층 서브넷 분리, fck-nat 기반 저비용 NAT, CloudFront 오리진 검증 헤더, GitHub OIDC 인증, KMS 공용 키 암호화는 그대로 채택한다.</a:t>
            </a:r>
            <a:endParaRPr lang="en-US" sz="1050" dirty="0"/>
          </a:p>
        </p:txBody>
      </p:sp>
      <p:sp>
        <p:nvSpPr>
          <p:cNvPr id="12" name="Text 9"/>
          <p:cNvSpPr/>
          <p:nvPr/>
        </p:nvSpPr>
        <p:spPr>
          <a:xfrm>
            <a:off x="566928" y="6153912"/>
            <a:ext cx="6428232" cy="82296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동시에 2차 프로젝트에서 확인된 한계 — 로컬 tfstate로 인한 협업 충돌 위험, NAT 인스턴스 아웃바운드 병목, 인스턴스 롤에 집중된 권한 — 는 각각 S3 원격 백엔드(첫 커밋부터), ECR VPC 엔드포인트, IRSA 권한 분리로 구조적으로 해소한다. 코드는 새 팀에서 전부 새로 작성한다.</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4"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3</a:t>
            </a:r>
            <a:endParaRPr lang="en-US" sz="850" dirty="0"/>
          </a:p>
        </p:txBody>
      </p:sp>
      <p:sp>
        <p:nvSpPr>
          <p:cNvPr id="5"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4.  </a:t>
            </a:r>
            <a:pPr indent="0" marL="0">
              <a:buNone/>
            </a:pPr>
            <a:r>
              <a:rPr lang="en-US" sz="1700" b="1" dirty="0">
                <a:solidFill>
                  <a:srgbClr val="FFFFFF"/>
                </a:solidFill>
                <a:latin typeface="Arial" pitchFamily="34" charset="0"/>
                <a:ea typeface="Arial" pitchFamily="34" charset="-122"/>
                <a:cs typeface="Arial" pitchFamily="34" charset="-120"/>
              </a:rPr>
              <a:t>목표 아키텍처</a:t>
            </a:r>
            <a:endParaRPr lang="en-US" sz="1700" dirty="0"/>
          </a:p>
        </p:txBody>
      </p:sp>
      <p:sp>
        <p:nvSpPr>
          <p:cNvPr id="6" name="Text 3"/>
          <p:cNvSpPr/>
          <p:nvPr/>
        </p:nvSpPr>
        <p:spPr>
          <a:xfrm>
            <a:off x="566928" y="978408"/>
            <a:ext cx="6428232" cy="45720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리전은 ap-northeast-2(서울), 2개 가용영역을 사용하며 서브넷은 퍼블릭(엣지) / 프라이빗(EKS) / 격리(DB·캐시) 3계층으로 분리한다.</a:t>
            </a:r>
            <a:endParaRPr lang="en-US" sz="1050" dirty="0"/>
          </a:p>
        </p:txBody>
      </p:sp>
      <p:sp>
        <p:nvSpPr>
          <p:cNvPr id="7" name="Shape 4"/>
          <p:cNvSpPr/>
          <p:nvPr/>
        </p:nvSpPr>
        <p:spPr>
          <a:xfrm>
            <a:off x="566928" y="1527048"/>
            <a:ext cx="1417320" cy="253060"/>
          </a:xfrm>
          <a:prstGeom prst="rect">
            <a:avLst/>
          </a:prstGeom>
          <a:solidFill>
            <a:srgbClr val="C2410C"/>
          </a:solidFill>
          <a:ln w="6350">
            <a:solidFill>
              <a:srgbClr val="4A4038"/>
            </a:solidFill>
            <a:prstDash val="solid"/>
          </a:ln>
        </p:spPr>
      </p:sp>
      <p:sp>
        <p:nvSpPr>
          <p:cNvPr id="8" name="Text 5"/>
          <p:cNvSpPr/>
          <p:nvPr/>
        </p:nvSpPr>
        <p:spPr>
          <a:xfrm>
            <a:off x="630936" y="1527048"/>
            <a:ext cx="128930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구간</a:t>
            </a:r>
            <a:endParaRPr lang="en-US" sz="950" dirty="0"/>
          </a:p>
        </p:txBody>
      </p:sp>
      <p:sp>
        <p:nvSpPr>
          <p:cNvPr id="9" name="Shape 6"/>
          <p:cNvSpPr/>
          <p:nvPr/>
        </p:nvSpPr>
        <p:spPr>
          <a:xfrm>
            <a:off x="1984248" y="1527048"/>
            <a:ext cx="5010912" cy="253060"/>
          </a:xfrm>
          <a:prstGeom prst="rect">
            <a:avLst/>
          </a:prstGeom>
          <a:solidFill>
            <a:srgbClr val="C2410C"/>
          </a:solidFill>
          <a:ln w="6350">
            <a:solidFill>
              <a:srgbClr val="4A4038"/>
            </a:solidFill>
            <a:prstDash val="solid"/>
          </a:ln>
        </p:spPr>
      </p:sp>
      <p:sp>
        <p:nvSpPr>
          <p:cNvPr id="10" name="Text 7"/>
          <p:cNvSpPr/>
          <p:nvPr/>
        </p:nvSpPr>
        <p:spPr>
          <a:xfrm>
            <a:off x="2048256" y="1527048"/>
            <a:ext cx="488289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구성</a:t>
            </a:r>
            <a:endParaRPr lang="en-US" sz="950" dirty="0"/>
          </a:p>
        </p:txBody>
      </p:sp>
      <p:sp>
        <p:nvSpPr>
          <p:cNvPr id="11" name="Shape 8"/>
          <p:cNvSpPr/>
          <p:nvPr/>
        </p:nvSpPr>
        <p:spPr>
          <a:xfrm>
            <a:off x="566928" y="1780108"/>
            <a:ext cx="1417320" cy="396392"/>
          </a:xfrm>
          <a:prstGeom prst="rect">
            <a:avLst/>
          </a:prstGeom>
          <a:solidFill>
            <a:srgbClr val="3A2E24"/>
          </a:solidFill>
          <a:ln w="6350">
            <a:solidFill>
              <a:srgbClr val="4A4038"/>
            </a:solidFill>
            <a:prstDash val="solid"/>
          </a:ln>
        </p:spPr>
      </p:sp>
      <p:sp>
        <p:nvSpPr>
          <p:cNvPr id="12" name="Text 9"/>
          <p:cNvSpPr/>
          <p:nvPr/>
        </p:nvSpPr>
        <p:spPr>
          <a:xfrm>
            <a:off x="630936" y="1780108"/>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트래픽 유입</a:t>
            </a:r>
            <a:endParaRPr lang="en-US" sz="950" dirty="0"/>
          </a:p>
        </p:txBody>
      </p:sp>
      <p:sp>
        <p:nvSpPr>
          <p:cNvPr id="13" name="Shape 10"/>
          <p:cNvSpPr/>
          <p:nvPr/>
        </p:nvSpPr>
        <p:spPr>
          <a:xfrm>
            <a:off x="1984248" y="1780108"/>
            <a:ext cx="5010912" cy="396392"/>
          </a:xfrm>
          <a:prstGeom prst="rect">
            <a:avLst/>
          </a:prstGeom>
          <a:solidFill>
            <a:srgbClr val="2A2420"/>
          </a:solidFill>
          <a:ln w="6350">
            <a:solidFill>
              <a:srgbClr val="4A4038"/>
            </a:solidFill>
            <a:prstDash val="solid"/>
          </a:ln>
        </p:spPr>
      </p:sp>
      <p:sp>
        <p:nvSpPr>
          <p:cNvPr id="14" name="Text 11"/>
          <p:cNvSpPr/>
          <p:nvPr/>
        </p:nvSpPr>
        <p:spPr>
          <a:xfrm>
            <a:off x="2048256" y="1780108"/>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Route 53 → CloudFront(+WAF, X-Origin-Verify 헤더 부착) → ALB(퍼블릭 서브넷, Terraform 관리)</a:t>
            </a:r>
            <a:endParaRPr lang="en-US" sz="950" dirty="0"/>
          </a:p>
        </p:txBody>
      </p:sp>
      <p:sp>
        <p:nvSpPr>
          <p:cNvPr id="15" name="Shape 12"/>
          <p:cNvSpPr/>
          <p:nvPr/>
        </p:nvSpPr>
        <p:spPr>
          <a:xfrm>
            <a:off x="566928" y="2176501"/>
            <a:ext cx="1417320" cy="539725"/>
          </a:xfrm>
          <a:prstGeom prst="rect">
            <a:avLst/>
          </a:prstGeom>
          <a:solidFill>
            <a:srgbClr val="3A2E24"/>
          </a:solidFill>
          <a:ln w="6350">
            <a:solidFill>
              <a:srgbClr val="4A4038"/>
            </a:solidFill>
            <a:prstDash val="solid"/>
          </a:ln>
        </p:spPr>
      </p:sp>
      <p:sp>
        <p:nvSpPr>
          <p:cNvPr id="16" name="Text 13"/>
          <p:cNvSpPr/>
          <p:nvPr/>
        </p:nvSpPr>
        <p:spPr>
          <a:xfrm>
            <a:off x="630936" y="2176501"/>
            <a:ext cx="1289304" cy="539725"/>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컴퓨트</a:t>
            </a:r>
            <a:endParaRPr lang="en-US" sz="950" dirty="0"/>
          </a:p>
        </p:txBody>
      </p:sp>
      <p:sp>
        <p:nvSpPr>
          <p:cNvPr id="17" name="Shape 14"/>
          <p:cNvSpPr/>
          <p:nvPr/>
        </p:nvSpPr>
        <p:spPr>
          <a:xfrm>
            <a:off x="1984248" y="2176501"/>
            <a:ext cx="5010912" cy="539725"/>
          </a:xfrm>
          <a:prstGeom prst="rect">
            <a:avLst/>
          </a:prstGeom>
          <a:solidFill>
            <a:srgbClr val="2A2420"/>
          </a:solidFill>
          <a:ln w="6350">
            <a:solidFill>
              <a:srgbClr val="4A4038"/>
            </a:solidFill>
            <a:prstDash val="solid"/>
          </a:ln>
        </p:spPr>
      </p:sp>
      <p:sp>
        <p:nvSpPr>
          <p:cNvPr id="18" name="Text 15"/>
          <p:cNvSpPr/>
          <p:nvPr/>
        </p:nvSpPr>
        <p:spPr>
          <a:xfrm>
            <a:off x="2048256" y="2176501"/>
            <a:ext cx="4882896" cy="539725"/>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EKS 클러스터 + 관리형 노드그룹(t3.medium 2~6대). ALB와는 ip 타입 Target Group + TargetGroupBinding으로 연결</a:t>
            </a:r>
            <a:endParaRPr lang="en-US" sz="950" dirty="0"/>
          </a:p>
        </p:txBody>
      </p:sp>
      <p:sp>
        <p:nvSpPr>
          <p:cNvPr id="19" name="Shape 16"/>
          <p:cNvSpPr/>
          <p:nvPr/>
        </p:nvSpPr>
        <p:spPr>
          <a:xfrm>
            <a:off x="566928" y="2716225"/>
            <a:ext cx="1417320" cy="539725"/>
          </a:xfrm>
          <a:prstGeom prst="rect">
            <a:avLst/>
          </a:prstGeom>
          <a:solidFill>
            <a:srgbClr val="3A2E24"/>
          </a:solidFill>
          <a:ln w="6350">
            <a:solidFill>
              <a:srgbClr val="4A4038"/>
            </a:solidFill>
            <a:prstDash val="solid"/>
          </a:ln>
        </p:spPr>
      </p:sp>
      <p:sp>
        <p:nvSpPr>
          <p:cNvPr id="20" name="Text 17"/>
          <p:cNvSpPr/>
          <p:nvPr/>
        </p:nvSpPr>
        <p:spPr>
          <a:xfrm>
            <a:off x="630936" y="2716225"/>
            <a:ext cx="1289304" cy="539725"/>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클러스터 애드온</a:t>
            </a:r>
            <a:endParaRPr lang="en-US" sz="950" dirty="0"/>
          </a:p>
        </p:txBody>
      </p:sp>
      <p:sp>
        <p:nvSpPr>
          <p:cNvPr id="21" name="Shape 18"/>
          <p:cNvSpPr/>
          <p:nvPr/>
        </p:nvSpPr>
        <p:spPr>
          <a:xfrm>
            <a:off x="1984248" y="2716225"/>
            <a:ext cx="5010912" cy="539725"/>
          </a:xfrm>
          <a:prstGeom prst="rect">
            <a:avLst/>
          </a:prstGeom>
          <a:solidFill>
            <a:srgbClr val="2A2420"/>
          </a:solidFill>
          <a:ln w="6350">
            <a:solidFill>
              <a:srgbClr val="4A4038"/>
            </a:solidFill>
            <a:prstDash val="solid"/>
          </a:ln>
        </p:spPr>
      </p:sp>
      <p:sp>
        <p:nvSpPr>
          <p:cNvPr id="22" name="Text 19"/>
          <p:cNvSpPr/>
          <p:nvPr/>
        </p:nvSpPr>
        <p:spPr>
          <a:xfrm>
            <a:off x="2048256" y="2716225"/>
            <a:ext cx="4882896" cy="539725"/>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AWS Load Balancer Controller, External Secrets(SSM 연동), EFS CSI, metrics-server, Cluster Autoscaler — 전부 IRSA 기반</a:t>
            </a:r>
            <a:endParaRPr lang="en-US" sz="950" dirty="0"/>
          </a:p>
        </p:txBody>
      </p:sp>
      <p:sp>
        <p:nvSpPr>
          <p:cNvPr id="23" name="Shape 20"/>
          <p:cNvSpPr/>
          <p:nvPr/>
        </p:nvSpPr>
        <p:spPr>
          <a:xfrm>
            <a:off x="566928" y="3255950"/>
            <a:ext cx="1417320" cy="396392"/>
          </a:xfrm>
          <a:prstGeom prst="rect">
            <a:avLst/>
          </a:prstGeom>
          <a:solidFill>
            <a:srgbClr val="3A2E24"/>
          </a:solidFill>
          <a:ln w="6350">
            <a:solidFill>
              <a:srgbClr val="4A4038"/>
            </a:solidFill>
            <a:prstDash val="solid"/>
          </a:ln>
        </p:spPr>
      </p:sp>
      <p:sp>
        <p:nvSpPr>
          <p:cNvPr id="24" name="Text 21"/>
          <p:cNvSpPr/>
          <p:nvPr/>
        </p:nvSpPr>
        <p:spPr>
          <a:xfrm>
            <a:off x="630936" y="3255950"/>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데이터 계층</a:t>
            </a:r>
            <a:endParaRPr lang="en-US" sz="950" dirty="0"/>
          </a:p>
        </p:txBody>
      </p:sp>
      <p:sp>
        <p:nvSpPr>
          <p:cNvPr id="25" name="Shape 22"/>
          <p:cNvSpPr/>
          <p:nvPr/>
        </p:nvSpPr>
        <p:spPr>
          <a:xfrm>
            <a:off x="1984248" y="3255950"/>
            <a:ext cx="5010912" cy="396392"/>
          </a:xfrm>
          <a:prstGeom prst="rect">
            <a:avLst/>
          </a:prstGeom>
          <a:solidFill>
            <a:srgbClr val="2A2420"/>
          </a:solidFill>
          <a:ln w="6350">
            <a:solidFill>
              <a:srgbClr val="4A4038"/>
            </a:solidFill>
            <a:prstDash val="solid"/>
          </a:ln>
        </p:spPr>
      </p:sp>
      <p:sp>
        <p:nvSpPr>
          <p:cNvPr id="26" name="Text 23"/>
          <p:cNvSpPr/>
          <p:nvPr/>
        </p:nvSpPr>
        <p:spPr>
          <a:xfrm>
            <a:off x="2048256" y="3255950"/>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MariaDB(격리 서브넷), ElastiCache Redis(TLS+AUTH), EFS 공유 스토리지</a:t>
            </a:r>
            <a:endParaRPr lang="en-US" sz="950" dirty="0"/>
          </a:p>
        </p:txBody>
      </p:sp>
      <p:sp>
        <p:nvSpPr>
          <p:cNvPr id="27" name="Shape 24"/>
          <p:cNvSpPr/>
          <p:nvPr/>
        </p:nvSpPr>
        <p:spPr>
          <a:xfrm>
            <a:off x="566928" y="3652342"/>
            <a:ext cx="1417320" cy="396392"/>
          </a:xfrm>
          <a:prstGeom prst="rect">
            <a:avLst/>
          </a:prstGeom>
          <a:solidFill>
            <a:srgbClr val="3A2E24"/>
          </a:solidFill>
          <a:ln w="6350">
            <a:solidFill>
              <a:srgbClr val="4A4038"/>
            </a:solidFill>
            <a:prstDash val="solid"/>
          </a:ln>
        </p:spPr>
      </p:sp>
      <p:sp>
        <p:nvSpPr>
          <p:cNvPr id="28" name="Text 25"/>
          <p:cNvSpPr/>
          <p:nvPr/>
        </p:nvSpPr>
        <p:spPr>
          <a:xfrm>
            <a:off x="630936" y="3652342"/>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아웃바운드</a:t>
            </a:r>
            <a:endParaRPr lang="en-US" sz="950" dirty="0"/>
          </a:p>
        </p:txBody>
      </p:sp>
      <p:sp>
        <p:nvSpPr>
          <p:cNvPr id="29" name="Shape 26"/>
          <p:cNvSpPr/>
          <p:nvPr/>
        </p:nvSpPr>
        <p:spPr>
          <a:xfrm>
            <a:off x="1984248" y="3652342"/>
            <a:ext cx="5010912" cy="396392"/>
          </a:xfrm>
          <a:prstGeom prst="rect">
            <a:avLst/>
          </a:prstGeom>
          <a:solidFill>
            <a:srgbClr val="2A2420"/>
          </a:solidFill>
          <a:ln w="6350">
            <a:solidFill>
              <a:srgbClr val="4A4038"/>
            </a:solidFill>
            <a:prstDash val="solid"/>
          </a:ln>
        </p:spPr>
      </p:sp>
      <p:sp>
        <p:nvSpPr>
          <p:cNvPr id="30" name="Text 27"/>
          <p:cNvSpPr/>
          <p:nvPr/>
        </p:nvSpPr>
        <p:spPr>
          <a:xfrm>
            <a:off x="2048256" y="3652342"/>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fck-nat 인스턴스 + ECR·S3 VPC 엔드포인트(이미지 풀 트래픽 우회)</a:t>
            </a:r>
            <a:endParaRPr lang="en-US" sz="950" dirty="0"/>
          </a:p>
        </p:txBody>
      </p:sp>
      <p:sp>
        <p:nvSpPr>
          <p:cNvPr id="31" name="Shape 28"/>
          <p:cNvSpPr/>
          <p:nvPr/>
        </p:nvSpPr>
        <p:spPr>
          <a:xfrm>
            <a:off x="566928" y="4048735"/>
            <a:ext cx="1417320" cy="396392"/>
          </a:xfrm>
          <a:prstGeom prst="rect">
            <a:avLst/>
          </a:prstGeom>
          <a:solidFill>
            <a:srgbClr val="3A2E24"/>
          </a:solidFill>
          <a:ln w="6350">
            <a:solidFill>
              <a:srgbClr val="4A4038"/>
            </a:solidFill>
            <a:prstDash val="solid"/>
          </a:ln>
        </p:spPr>
      </p:sp>
      <p:sp>
        <p:nvSpPr>
          <p:cNvPr id="32" name="Text 29"/>
          <p:cNvSpPr/>
          <p:nvPr/>
        </p:nvSpPr>
        <p:spPr>
          <a:xfrm>
            <a:off x="630936" y="4048735"/>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CI/CD</a:t>
            </a:r>
            <a:endParaRPr lang="en-US" sz="950" dirty="0"/>
          </a:p>
        </p:txBody>
      </p:sp>
      <p:sp>
        <p:nvSpPr>
          <p:cNvPr id="33" name="Shape 30"/>
          <p:cNvSpPr/>
          <p:nvPr/>
        </p:nvSpPr>
        <p:spPr>
          <a:xfrm>
            <a:off x="1984248" y="4048735"/>
            <a:ext cx="5010912" cy="396392"/>
          </a:xfrm>
          <a:prstGeom prst="rect">
            <a:avLst/>
          </a:prstGeom>
          <a:solidFill>
            <a:srgbClr val="2A2420"/>
          </a:solidFill>
          <a:ln w="6350">
            <a:solidFill>
              <a:srgbClr val="4A4038"/>
            </a:solidFill>
            <a:prstDash val="solid"/>
          </a:ln>
        </p:spPr>
      </p:sp>
      <p:sp>
        <p:nvSpPr>
          <p:cNvPr id="34" name="Text 31"/>
          <p:cNvSpPr/>
          <p:nvPr/>
        </p:nvSpPr>
        <p:spPr>
          <a:xfrm>
            <a:off x="2048256" y="4048735"/>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GitHub Actions(OIDC) → 이미지 빌드 → ECR 푸시 → kubectl rollout (실패 시 자동 undo)</a:t>
            </a:r>
            <a:endParaRPr lang="en-US" sz="950" dirty="0"/>
          </a:p>
        </p:txBody>
      </p:sp>
      <p:sp>
        <p:nvSpPr>
          <p:cNvPr id="35" name="Shape 32"/>
          <p:cNvSpPr/>
          <p:nvPr/>
        </p:nvSpPr>
        <p:spPr>
          <a:xfrm>
            <a:off x="566928" y="4445127"/>
            <a:ext cx="1417320" cy="396392"/>
          </a:xfrm>
          <a:prstGeom prst="rect">
            <a:avLst/>
          </a:prstGeom>
          <a:solidFill>
            <a:srgbClr val="3A2E24"/>
          </a:solidFill>
          <a:ln w="6350">
            <a:solidFill>
              <a:srgbClr val="4A4038"/>
            </a:solidFill>
            <a:prstDash val="solid"/>
          </a:ln>
        </p:spPr>
      </p:sp>
      <p:sp>
        <p:nvSpPr>
          <p:cNvPr id="36" name="Text 33"/>
          <p:cNvSpPr/>
          <p:nvPr/>
        </p:nvSpPr>
        <p:spPr>
          <a:xfrm>
            <a:off x="630936" y="4445127"/>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관측</a:t>
            </a:r>
            <a:endParaRPr lang="en-US" sz="950" dirty="0"/>
          </a:p>
        </p:txBody>
      </p:sp>
      <p:sp>
        <p:nvSpPr>
          <p:cNvPr id="37" name="Shape 34"/>
          <p:cNvSpPr/>
          <p:nvPr/>
        </p:nvSpPr>
        <p:spPr>
          <a:xfrm>
            <a:off x="1984248" y="4445127"/>
            <a:ext cx="5010912" cy="396392"/>
          </a:xfrm>
          <a:prstGeom prst="rect">
            <a:avLst/>
          </a:prstGeom>
          <a:solidFill>
            <a:srgbClr val="2A2420"/>
          </a:solidFill>
          <a:ln w="6350">
            <a:solidFill>
              <a:srgbClr val="4A4038"/>
            </a:solidFill>
            <a:prstDash val="solid"/>
          </a:ln>
        </p:spPr>
      </p:sp>
      <p:sp>
        <p:nvSpPr>
          <p:cNvPr id="38" name="Text 35"/>
          <p:cNvSpPr/>
          <p:nvPr/>
        </p:nvSpPr>
        <p:spPr>
          <a:xfrm>
            <a:off x="2048256" y="4445127"/>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CloudWatch Container Insights, [Prometheus/Grafana — 팀 논의]</a:t>
            </a:r>
            <a:endParaRPr lang="en-US" sz="950" dirty="0"/>
          </a:p>
        </p:txBody>
      </p:sp>
      <p:sp>
        <p:nvSpPr>
          <p:cNvPr id="39" name="Text 36"/>
          <p:cNvSpPr/>
          <p:nvPr/>
        </p:nvSpPr>
        <p:spPr>
          <a:xfrm>
            <a:off x="566928" y="4951247"/>
            <a:ext cx="6428232" cy="365760"/>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DR: [ ] 포함 여부 논의. 클러스터 재생성 절차를 Terraform 모듈 + 런북으로 문서화하는 방식을 제안한다.</a:t>
            </a:r>
            <a:endParaRPr lang="en-US" sz="950" dirty="0"/>
          </a:p>
        </p:txBody>
      </p:sp>
      <p:sp>
        <p:nvSpPr>
          <p:cNvPr id="40" name="Text 37"/>
          <p:cNvSpPr/>
          <p:nvPr/>
        </p:nvSpPr>
        <p:spPr>
          <a:xfrm>
            <a:off x="566928" y="5591327"/>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5.  </a:t>
            </a:r>
            <a:pPr indent="0" marL="0">
              <a:buNone/>
            </a:pPr>
            <a:r>
              <a:rPr lang="en-US" sz="1700" b="1" dirty="0">
                <a:solidFill>
                  <a:srgbClr val="FFFFFF"/>
                </a:solidFill>
                <a:latin typeface="Arial" pitchFamily="34" charset="0"/>
                <a:ea typeface="Arial" pitchFamily="34" charset="-122"/>
                <a:cs typeface="Arial" pitchFamily="34" charset="-120"/>
              </a:rPr>
              <a:t>핵심 기술 결정 (ADR 요약)</a:t>
            </a:r>
            <a:endParaRPr lang="en-US" sz="1700" dirty="0"/>
          </a:p>
        </p:txBody>
      </p:sp>
      <p:sp>
        <p:nvSpPr>
          <p:cNvPr id="41" name="Text 38"/>
          <p:cNvSpPr/>
          <p:nvPr/>
        </p:nvSpPr>
        <p:spPr>
          <a:xfrm>
            <a:off x="566928" y="6066815"/>
            <a:ext cx="6428232" cy="274320"/>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각 결정은 레포의 docs/adr/ 디렉터리에 상세 기록한다.</a:t>
            </a:r>
            <a:endParaRPr lang="en-US" sz="950" dirty="0"/>
          </a:p>
        </p:txBody>
      </p:sp>
      <p:sp>
        <p:nvSpPr>
          <p:cNvPr id="42" name="Text 39"/>
          <p:cNvSpPr/>
          <p:nvPr/>
        </p:nvSpPr>
        <p:spPr>
          <a:xfrm>
            <a:off x="566928" y="6432575"/>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ADR-001  </a:t>
            </a:r>
            <a:pPr indent="0" marL="0">
              <a:buNone/>
            </a:pPr>
            <a:r>
              <a:rPr lang="en-US" sz="1100" b="1" dirty="0">
                <a:solidFill>
                  <a:srgbClr val="F5C9A8"/>
                </a:solidFill>
                <a:latin typeface="Arial" pitchFamily="34" charset="0"/>
                <a:ea typeface="Arial" pitchFamily="34" charset="-122"/>
                <a:cs typeface="Arial" pitchFamily="34" charset="-120"/>
              </a:rPr>
              <a:t>컨트롤 플레인 — EKS 채택</a:t>
            </a:r>
            <a:endParaRPr lang="en-US" sz="850" dirty="0"/>
          </a:p>
        </p:txBody>
      </p:sp>
      <p:sp>
        <p:nvSpPr>
          <p:cNvPr id="43" name="Text 40"/>
          <p:cNvSpPr/>
          <p:nvPr/>
        </p:nvSpPr>
        <p:spPr>
          <a:xfrm>
            <a:off x="612648" y="6688607"/>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셀프호스팅(k3s/kubeadm) 대비 etcd 백업·인증서·업그레이드 운영 부담을 제거하고 앱 계층에 집중. 컨트롤 플레인 비용은 apply/destroy 운용으로 통제.</a:t>
            </a:r>
            <a:endParaRPr lang="en-US" sz="950" dirty="0"/>
          </a:p>
        </p:txBody>
      </p:sp>
      <p:sp>
        <p:nvSpPr>
          <p:cNvPr id="44" name="Text 41"/>
          <p:cNvSpPr/>
          <p:nvPr/>
        </p:nvSpPr>
        <p:spPr>
          <a:xfrm>
            <a:off x="566928" y="7200671"/>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ADR-002  </a:t>
            </a:r>
            <a:pPr indent="0" marL="0">
              <a:buNone/>
            </a:pPr>
            <a:r>
              <a:rPr lang="en-US" sz="1100" b="1" dirty="0">
                <a:solidFill>
                  <a:srgbClr val="F5C9A8"/>
                </a:solidFill>
                <a:latin typeface="Arial" pitchFamily="34" charset="0"/>
                <a:ea typeface="Arial" pitchFamily="34" charset="-122"/>
                <a:cs typeface="Arial" pitchFamily="34" charset="-120"/>
              </a:rPr>
              <a:t>ALB 관리 주체 — Terraform ALB + TargetGroupBinding</a:t>
            </a:r>
            <a:endParaRPr lang="en-US" sz="850" dirty="0"/>
          </a:p>
        </p:txBody>
      </p:sp>
      <p:sp>
        <p:nvSpPr>
          <p:cNvPr id="45" name="Text 42"/>
          <p:cNvSpPr/>
          <p:nvPr/>
        </p:nvSpPr>
        <p:spPr>
          <a:xfrm>
            <a:off x="612648" y="7456703"/>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Ingress로 ALB를 생성하면 생명주기가 클러스터에 종속되고 오리진 도메인이 변할 수 있다. Terraform이 ALB와 오리진 검증 룰을 소유하고, 클러스터는 TGB로 Pod만 등록.</a:t>
            </a:r>
            <a:endParaRPr lang="en-US" sz="950" dirty="0"/>
          </a:p>
        </p:txBody>
      </p:sp>
      <p:sp>
        <p:nvSpPr>
          <p:cNvPr id="46" name="Text 43"/>
          <p:cNvSpPr/>
          <p:nvPr/>
        </p:nvSpPr>
        <p:spPr>
          <a:xfrm>
            <a:off x="566928" y="7968767"/>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ADR-003  </a:t>
            </a:r>
            <a:pPr indent="0" marL="0">
              <a:buNone/>
            </a:pPr>
            <a:r>
              <a:rPr lang="en-US" sz="1100" b="1" dirty="0">
                <a:solidFill>
                  <a:srgbClr val="F5C9A8"/>
                </a:solidFill>
                <a:latin typeface="Arial" pitchFamily="34" charset="0"/>
                <a:ea typeface="Arial" pitchFamily="34" charset="-122"/>
                <a:cs typeface="Arial" pitchFamily="34" charset="-120"/>
              </a:rPr>
              <a:t>노드 오토스케일러 — Cluster Autoscaler</a:t>
            </a:r>
            <a:endParaRPr lang="en-US" sz="850" dirty="0"/>
          </a:p>
        </p:txBody>
      </p:sp>
      <p:sp>
        <p:nvSpPr>
          <p:cNvPr id="47" name="Text 44"/>
          <p:cNvSpPr/>
          <p:nvPr/>
        </p:nvSpPr>
        <p:spPr>
          <a:xfrm>
            <a:off x="612648" y="8224799"/>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단일 노드그룹 2~6대 규모에서는 CA가 예측 가능하고 충분. 스팟 혼합·다중 인스턴스 타입 필요 시점에 Karpenter 재검토.</a:t>
            </a:r>
            <a:endParaRPr lang="en-US" sz="950" dirty="0"/>
          </a:p>
        </p:txBody>
      </p:sp>
      <p:sp>
        <p:nvSpPr>
          <p:cNvPr id="48" name="Text 45"/>
          <p:cNvSpPr/>
          <p:nvPr/>
        </p:nvSpPr>
        <p:spPr>
          <a:xfrm>
            <a:off x="566928" y="8736863"/>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ADR-004  </a:t>
            </a:r>
            <a:pPr indent="0" marL="0">
              <a:buNone/>
            </a:pPr>
            <a:r>
              <a:rPr lang="en-US" sz="1100" b="1" dirty="0">
                <a:solidFill>
                  <a:srgbClr val="F5C9A8"/>
                </a:solidFill>
                <a:latin typeface="Arial" pitchFamily="34" charset="0"/>
                <a:ea typeface="Arial" pitchFamily="34" charset="-122"/>
                <a:cs typeface="Arial" pitchFamily="34" charset="-120"/>
              </a:rPr>
              <a:t>시크릿 주입 — External Secrets + SSM Parameter Store</a:t>
            </a:r>
            <a:endParaRPr lang="en-US" sz="850" dirty="0"/>
          </a:p>
        </p:txBody>
      </p:sp>
      <p:sp>
        <p:nvSpPr>
          <p:cNvPr id="49" name="Text 46"/>
          <p:cNvSpPr/>
          <p:nvPr/>
        </p:nvSpPr>
        <p:spPr>
          <a:xfrm>
            <a:off x="612648" y="8992895"/>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앱과 인프라의 결합을 제거. 로테이션이 필요해지면 Secrets Manager 승격 논의. [ ]</a:t>
            </a:r>
            <a:endParaRPr lang="en-US" sz="950" dirty="0"/>
          </a:p>
        </p:txBody>
      </p:sp>
      <p:sp>
        <p:nvSpPr>
          <p:cNvPr id="50" name="Text 47"/>
          <p:cNvSpPr/>
          <p:nvPr/>
        </p:nvSpPr>
        <p:spPr>
          <a:xfrm>
            <a:off x="566928" y="9504959"/>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ADR-005  </a:t>
            </a:r>
            <a:pPr indent="0" marL="0">
              <a:buNone/>
            </a:pPr>
            <a:r>
              <a:rPr lang="en-US" sz="1100" b="1" dirty="0">
                <a:solidFill>
                  <a:srgbClr val="F5C9A8"/>
                </a:solidFill>
                <a:latin typeface="Arial" pitchFamily="34" charset="0"/>
                <a:ea typeface="Arial" pitchFamily="34" charset="-122"/>
                <a:cs typeface="Arial" pitchFamily="34" charset="-120"/>
              </a:rPr>
              <a:t>노드 타입 — t3.medium × 2 (prefix delegation)</a:t>
            </a:r>
            <a:endParaRPr lang="en-US" sz="850" dirty="0"/>
          </a:p>
        </p:txBody>
      </p:sp>
      <p:sp>
        <p:nvSpPr>
          <p:cNvPr id="51" name="Text 48"/>
          <p:cNvSpPr/>
          <p:nvPr/>
        </p:nvSpPr>
        <p:spPr>
          <a:xfrm>
            <a:off x="612648" y="9760991"/>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t3.small은 시스템 Pod 오버헤드 제외 시 앱 가용량 부족. prefix delegation으로 노드당 Pod 상한 확보.</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4"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4</a:t>
            </a:r>
            <a:endParaRPr lang="en-US" sz="850" dirty="0"/>
          </a:p>
        </p:txBody>
      </p:sp>
      <p:sp>
        <p:nvSpPr>
          <p:cNvPr id="5"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6.  </a:t>
            </a:r>
            <a:pPr indent="0" marL="0">
              <a:buNone/>
            </a:pPr>
            <a:r>
              <a:rPr lang="en-US" sz="1700" b="1" dirty="0">
                <a:solidFill>
                  <a:srgbClr val="FFFFFF"/>
                </a:solidFill>
                <a:latin typeface="Arial" pitchFamily="34" charset="0"/>
                <a:ea typeface="Arial" pitchFamily="34" charset="-122"/>
                <a:cs typeface="Arial" pitchFamily="34" charset="-120"/>
              </a:rPr>
              <a:t>레포 및 협업 구조</a:t>
            </a:r>
            <a:endParaRPr lang="en-US" sz="1700" dirty="0"/>
          </a:p>
        </p:txBody>
      </p:sp>
      <p:sp>
        <p:nvSpPr>
          <p:cNvPr id="6" name="Shape 3"/>
          <p:cNvSpPr/>
          <p:nvPr/>
        </p:nvSpPr>
        <p:spPr>
          <a:xfrm>
            <a:off x="566928" y="978408"/>
            <a:ext cx="1371600" cy="253060"/>
          </a:xfrm>
          <a:prstGeom prst="rect">
            <a:avLst/>
          </a:prstGeom>
          <a:solidFill>
            <a:srgbClr val="C2410C"/>
          </a:solidFill>
          <a:ln w="6350">
            <a:solidFill>
              <a:srgbClr val="4A4038"/>
            </a:solidFill>
            <a:prstDash val="solid"/>
          </a:ln>
        </p:spPr>
      </p:sp>
      <p:sp>
        <p:nvSpPr>
          <p:cNvPr id="7" name="Text 4"/>
          <p:cNvSpPr/>
          <p:nvPr/>
        </p:nvSpPr>
        <p:spPr>
          <a:xfrm>
            <a:off x="630936" y="97840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모듈</a:t>
            </a:r>
            <a:endParaRPr lang="en-US" sz="950" dirty="0"/>
          </a:p>
        </p:txBody>
      </p:sp>
      <p:sp>
        <p:nvSpPr>
          <p:cNvPr id="8" name="Shape 5"/>
          <p:cNvSpPr/>
          <p:nvPr/>
        </p:nvSpPr>
        <p:spPr>
          <a:xfrm>
            <a:off x="1938528" y="978408"/>
            <a:ext cx="3931920" cy="253060"/>
          </a:xfrm>
          <a:prstGeom prst="rect">
            <a:avLst/>
          </a:prstGeom>
          <a:solidFill>
            <a:srgbClr val="C2410C"/>
          </a:solidFill>
          <a:ln w="6350">
            <a:solidFill>
              <a:srgbClr val="4A4038"/>
            </a:solidFill>
            <a:prstDash val="solid"/>
          </a:ln>
        </p:spPr>
      </p:sp>
      <p:sp>
        <p:nvSpPr>
          <p:cNvPr id="9" name="Text 6"/>
          <p:cNvSpPr/>
          <p:nvPr/>
        </p:nvSpPr>
        <p:spPr>
          <a:xfrm>
            <a:off x="2002536" y="978408"/>
            <a:ext cx="380390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범위</a:t>
            </a:r>
            <a:endParaRPr lang="en-US" sz="950" dirty="0"/>
          </a:p>
        </p:txBody>
      </p:sp>
      <p:sp>
        <p:nvSpPr>
          <p:cNvPr id="10" name="Shape 7"/>
          <p:cNvSpPr/>
          <p:nvPr/>
        </p:nvSpPr>
        <p:spPr>
          <a:xfrm>
            <a:off x="5870448" y="978408"/>
            <a:ext cx="1124712" cy="253060"/>
          </a:xfrm>
          <a:prstGeom prst="rect">
            <a:avLst/>
          </a:prstGeom>
          <a:solidFill>
            <a:srgbClr val="C2410C"/>
          </a:solidFill>
          <a:ln w="6350">
            <a:solidFill>
              <a:srgbClr val="4A4038"/>
            </a:solidFill>
            <a:prstDash val="solid"/>
          </a:ln>
        </p:spPr>
      </p:sp>
      <p:sp>
        <p:nvSpPr>
          <p:cNvPr id="11" name="Text 8"/>
          <p:cNvSpPr/>
          <p:nvPr/>
        </p:nvSpPr>
        <p:spPr>
          <a:xfrm>
            <a:off x="5934456" y="978408"/>
            <a:ext cx="99669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오너</a:t>
            </a:r>
            <a:endParaRPr lang="en-US" sz="950" dirty="0"/>
          </a:p>
        </p:txBody>
      </p:sp>
      <p:sp>
        <p:nvSpPr>
          <p:cNvPr id="12" name="Shape 9"/>
          <p:cNvSpPr/>
          <p:nvPr/>
        </p:nvSpPr>
        <p:spPr>
          <a:xfrm>
            <a:off x="566928" y="1231468"/>
            <a:ext cx="1371600" cy="253060"/>
          </a:xfrm>
          <a:prstGeom prst="rect">
            <a:avLst/>
          </a:prstGeom>
          <a:solidFill>
            <a:srgbClr val="3A2E24"/>
          </a:solidFill>
          <a:ln w="6350">
            <a:solidFill>
              <a:srgbClr val="4A4038"/>
            </a:solidFill>
            <a:prstDash val="solid"/>
          </a:ln>
        </p:spPr>
      </p:sp>
      <p:sp>
        <p:nvSpPr>
          <p:cNvPr id="13" name="Text 10"/>
          <p:cNvSpPr/>
          <p:nvPr/>
        </p:nvSpPr>
        <p:spPr>
          <a:xfrm>
            <a:off x="630936" y="123146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network</a:t>
            </a:r>
            <a:endParaRPr lang="en-US" sz="950" dirty="0"/>
          </a:p>
        </p:txBody>
      </p:sp>
      <p:sp>
        <p:nvSpPr>
          <p:cNvPr id="14" name="Shape 11"/>
          <p:cNvSpPr/>
          <p:nvPr/>
        </p:nvSpPr>
        <p:spPr>
          <a:xfrm>
            <a:off x="1938528" y="1231468"/>
            <a:ext cx="3931920" cy="253060"/>
          </a:xfrm>
          <a:prstGeom prst="rect">
            <a:avLst/>
          </a:prstGeom>
          <a:solidFill>
            <a:srgbClr val="2A2420"/>
          </a:solidFill>
          <a:ln w="6350">
            <a:solidFill>
              <a:srgbClr val="4A4038"/>
            </a:solidFill>
            <a:prstDash val="solid"/>
          </a:ln>
        </p:spPr>
      </p:sp>
      <p:sp>
        <p:nvSpPr>
          <p:cNvPr id="15" name="Text 12"/>
          <p:cNvSpPr/>
          <p:nvPr/>
        </p:nvSpPr>
        <p:spPr>
          <a:xfrm>
            <a:off x="2002536" y="1231468"/>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VPC, 서브넷, NAT, VPC 엔드포인트</a:t>
            </a:r>
            <a:endParaRPr lang="en-US" sz="950" dirty="0"/>
          </a:p>
        </p:txBody>
      </p:sp>
      <p:sp>
        <p:nvSpPr>
          <p:cNvPr id="16" name="Shape 13"/>
          <p:cNvSpPr/>
          <p:nvPr/>
        </p:nvSpPr>
        <p:spPr>
          <a:xfrm>
            <a:off x="5870448" y="1231468"/>
            <a:ext cx="1124712" cy="253060"/>
          </a:xfrm>
          <a:prstGeom prst="rect">
            <a:avLst/>
          </a:prstGeom>
          <a:solidFill>
            <a:srgbClr val="2A2420"/>
          </a:solidFill>
          <a:ln w="6350">
            <a:solidFill>
              <a:srgbClr val="4A4038"/>
            </a:solidFill>
            <a:prstDash val="solid"/>
          </a:ln>
        </p:spPr>
      </p:sp>
      <p:sp>
        <p:nvSpPr>
          <p:cNvPr id="17" name="Text 14"/>
          <p:cNvSpPr/>
          <p:nvPr/>
        </p:nvSpPr>
        <p:spPr>
          <a:xfrm>
            <a:off x="5934456" y="1231468"/>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[A]</a:t>
            </a:r>
            <a:endParaRPr lang="en-US" sz="950" dirty="0"/>
          </a:p>
        </p:txBody>
      </p:sp>
      <p:sp>
        <p:nvSpPr>
          <p:cNvPr id="18" name="Shape 15"/>
          <p:cNvSpPr/>
          <p:nvPr/>
        </p:nvSpPr>
        <p:spPr>
          <a:xfrm>
            <a:off x="566928" y="1484528"/>
            <a:ext cx="1371600" cy="253060"/>
          </a:xfrm>
          <a:prstGeom prst="rect">
            <a:avLst/>
          </a:prstGeom>
          <a:solidFill>
            <a:srgbClr val="3A2E24"/>
          </a:solidFill>
          <a:ln w="6350">
            <a:solidFill>
              <a:srgbClr val="4A4038"/>
            </a:solidFill>
            <a:prstDash val="solid"/>
          </a:ln>
        </p:spPr>
      </p:sp>
      <p:sp>
        <p:nvSpPr>
          <p:cNvPr id="19" name="Text 16"/>
          <p:cNvSpPr/>
          <p:nvPr/>
        </p:nvSpPr>
        <p:spPr>
          <a:xfrm>
            <a:off x="630936" y="148452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data</a:t>
            </a:r>
            <a:endParaRPr lang="en-US" sz="950" dirty="0"/>
          </a:p>
        </p:txBody>
      </p:sp>
      <p:sp>
        <p:nvSpPr>
          <p:cNvPr id="20" name="Shape 17"/>
          <p:cNvSpPr/>
          <p:nvPr/>
        </p:nvSpPr>
        <p:spPr>
          <a:xfrm>
            <a:off x="1938528" y="1484528"/>
            <a:ext cx="3931920" cy="253060"/>
          </a:xfrm>
          <a:prstGeom prst="rect">
            <a:avLst/>
          </a:prstGeom>
          <a:solidFill>
            <a:srgbClr val="2A2420"/>
          </a:solidFill>
          <a:ln w="6350">
            <a:solidFill>
              <a:srgbClr val="4A4038"/>
            </a:solidFill>
            <a:prstDash val="solid"/>
          </a:ln>
        </p:spPr>
      </p:sp>
      <p:sp>
        <p:nvSpPr>
          <p:cNvPr id="21" name="Text 18"/>
          <p:cNvSpPr/>
          <p:nvPr/>
        </p:nvSpPr>
        <p:spPr>
          <a:xfrm>
            <a:off x="2002536" y="1484528"/>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Redis, EFS, S3</a:t>
            </a:r>
            <a:endParaRPr lang="en-US" sz="950" dirty="0"/>
          </a:p>
        </p:txBody>
      </p:sp>
      <p:sp>
        <p:nvSpPr>
          <p:cNvPr id="22" name="Shape 19"/>
          <p:cNvSpPr/>
          <p:nvPr/>
        </p:nvSpPr>
        <p:spPr>
          <a:xfrm>
            <a:off x="5870448" y="1484528"/>
            <a:ext cx="1124712" cy="253060"/>
          </a:xfrm>
          <a:prstGeom prst="rect">
            <a:avLst/>
          </a:prstGeom>
          <a:solidFill>
            <a:srgbClr val="2A2420"/>
          </a:solidFill>
          <a:ln w="6350">
            <a:solidFill>
              <a:srgbClr val="4A4038"/>
            </a:solidFill>
            <a:prstDash val="solid"/>
          </a:ln>
        </p:spPr>
      </p:sp>
      <p:sp>
        <p:nvSpPr>
          <p:cNvPr id="23" name="Text 20"/>
          <p:cNvSpPr/>
          <p:nvPr/>
        </p:nvSpPr>
        <p:spPr>
          <a:xfrm>
            <a:off x="5934456" y="1484528"/>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[B]</a:t>
            </a:r>
            <a:endParaRPr lang="en-US" sz="950" dirty="0"/>
          </a:p>
        </p:txBody>
      </p:sp>
      <p:sp>
        <p:nvSpPr>
          <p:cNvPr id="24" name="Shape 21"/>
          <p:cNvSpPr/>
          <p:nvPr/>
        </p:nvSpPr>
        <p:spPr>
          <a:xfrm>
            <a:off x="566928" y="1737589"/>
            <a:ext cx="1371600" cy="253060"/>
          </a:xfrm>
          <a:prstGeom prst="rect">
            <a:avLst/>
          </a:prstGeom>
          <a:solidFill>
            <a:srgbClr val="3A2E24"/>
          </a:solidFill>
          <a:ln w="6350">
            <a:solidFill>
              <a:srgbClr val="4A4038"/>
            </a:solidFill>
            <a:prstDash val="solid"/>
          </a:ln>
        </p:spPr>
      </p:sp>
      <p:sp>
        <p:nvSpPr>
          <p:cNvPr id="25" name="Text 22"/>
          <p:cNvSpPr/>
          <p:nvPr/>
        </p:nvSpPr>
        <p:spPr>
          <a:xfrm>
            <a:off x="630936" y="1737589"/>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eks</a:t>
            </a:r>
            <a:endParaRPr lang="en-US" sz="950" dirty="0"/>
          </a:p>
        </p:txBody>
      </p:sp>
      <p:sp>
        <p:nvSpPr>
          <p:cNvPr id="26" name="Shape 23"/>
          <p:cNvSpPr/>
          <p:nvPr/>
        </p:nvSpPr>
        <p:spPr>
          <a:xfrm>
            <a:off x="1938528" y="1737589"/>
            <a:ext cx="3931920" cy="253060"/>
          </a:xfrm>
          <a:prstGeom prst="rect">
            <a:avLst/>
          </a:prstGeom>
          <a:solidFill>
            <a:srgbClr val="2A2420"/>
          </a:solidFill>
          <a:ln w="6350">
            <a:solidFill>
              <a:srgbClr val="4A4038"/>
            </a:solidFill>
            <a:prstDash val="solid"/>
          </a:ln>
        </p:spPr>
      </p:sp>
      <p:sp>
        <p:nvSpPr>
          <p:cNvPr id="27" name="Text 24"/>
          <p:cNvSpPr/>
          <p:nvPr/>
        </p:nvSpPr>
        <p:spPr>
          <a:xfrm>
            <a:off x="2002536" y="1737589"/>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클러스터, 노드그룹, IRSA, 애드온</a:t>
            </a:r>
            <a:endParaRPr lang="en-US" sz="950" dirty="0"/>
          </a:p>
        </p:txBody>
      </p:sp>
      <p:sp>
        <p:nvSpPr>
          <p:cNvPr id="28" name="Shape 25"/>
          <p:cNvSpPr/>
          <p:nvPr/>
        </p:nvSpPr>
        <p:spPr>
          <a:xfrm>
            <a:off x="5870448" y="1737589"/>
            <a:ext cx="1124712" cy="253060"/>
          </a:xfrm>
          <a:prstGeom prst="rect">
            <a:avLst/>
          </a:prstGeom>
          <a:solidFill>
            <a:srgbClr val="2A2420"/>
          </a:solidFill>
          <a:ln w="6350">
            <a:solidFill>
              <a:srgbClr val="4A4038"/>
            </a:solidFill>
            <a:prstDash val="solid"/>
          </a:ln>
        </p:spPr>
      </p:sp>
      <p:sp>
        <p:nvSpPr>
          <p:cNvPr id="29" name="Text 26"/>
          <p:cNvSpPr/>
          <p:nvPr/>
        </p:nvSpPr>
        <p:spPr>
          <a:xfrm>
            <a:off x="5934456" y="1737589"/>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a:t>
            </a:r>
            <a:endParaRPr lang="en-US" sz="950" dirty="0"/>
          </a:p>
        </p:txBody>
      </p:sp>
      <p:sp>
        <p:nvSpPr>
          <p:cNvPr id="30" name="Shape 27"/>
          <p:cNvSpPr/>
          <p:nvPr/>
        </p:nvSpPr>
        <p:spPr>
          <a:xfrm>
            <a:off x="566928" y="1990649"/>
            <a:ext cx="1371600" cy="253060"/>
          </a:xfrm>
          <a:prstGeom prst="rect">
            <a:avLst/>
          </a:prstGeom>
          <a:solidFill>
            <a:srgbClr val="3A2E24"/>
          </a:solidFill>
          <a:ln w="6350">
            <a:solidFill>
              <a:srgbClr val="4A4038"/>
            </a:solidFill>
            <a:prstDash val="solid"/>
          </a:ln>
        </p:spPr>
      </p:sp>
      <p:sp>
        <p:nvSpPr>
          <p:cNvPr id="31" name="Text 28"/>
          <p:cNvSpPr/>
          <p:nvPr/>
        </p:nvSpPr>
        <p:spPr>
          <a:xfrm>
            <a:off x="630936" y="1990649"/>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edge</a:t>
            </a:r>
            <a:endParaRPr lang="en-US" sz="950" dirty="0"/>
          </a:p>
        </p:txBody>
      </p:sp>
      <p:sp>
        <p:nvSpPr>
          <p:cNvPr id="32" name="Shape 29"/>
          <p:cNvSpPr/>
          <p:nvPr/>
        </p:nvSpPr>
        <p:spPr>
          <a:xfrm>
            <a:off x="1938528" y="1990649"/>
            <a:ext cx="3931920" cy="253060"/>
          </a:xfrm>
          <a:prstGeom prst="rect">
            <a:avLst/>
          </a:prstGeom>
          <a:solidFill>
            <a:srgbClr val="2A2420"/>
          </a:solidFill>
          <a:ln w="6350">
            <a:solidFill>
              <a:srgbClr val="4A4038"/>
            </a:solidFill>
            <a:prstDash val="solid"/>
          </a:ln>
        </p:spPr>
      </p:sp>
      <p:sp>
        <p:nvSpPr>
          <p:cNvPr id="33" name="Text 30"/>
          <p:cNvSpPr/>
          <p:nvPr/>
        </p:nvSpPr>
        <p:spPr>
          <a:xfrm>
            <a:off x="2002536" y="1990649"/>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CloudFront, WAF, ALB, Route53</a:t>
            </a:r>
            <a:endParaRPr lang="en-US" sz="950" dirty="0"/>
          </a:p>
        </p:txBody>
      </p:sp>
      <p:sp>
        <p:nvSpPr>
          <p:cNvPr id="34" name="Shape 31"/>
          <p:cNvSpPr/>
          <p:nvPr/>
        </p:nvSpPr>
        <p:spPr>
          <a:xfrm>
            <a:off x="5870448" y="1990649"/>
            <a:ext cx="1124712" cy="253060"/>
          </a:xfrm>
          <a:prstGeom prst="rect">
            <a:avLst/>
          </a:prstGeom>
          <a:solidFill>
            <a:srgbClr val="2A2420"/>
          </a:solidFill>
          <a:ln w="6350">
            <a:solidFill>
              <a:srgbClr val="4A4038"/>
            </a:solidFill>
            <a:prstDash val="solid"/>
          </a:ln>
        </p:spPr>
      </p:sp>
      <p:sp>
        <p:nvSpPr>
          <p:cNvPr id="35" name="Text 32"/>
          <p:cNvSpPr/>
          <p:nvPr/>
        </p:nvSpPr>
        <p:spPr>
          <a:xfrm>
            <a:off x="5934456" y="1990649"/>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[D]</a:t>
            </a:r>
            <a:endParaRPr lang="en-US" sz="950" dirty="0"/>
          </a:p>
        </p:txBody>
      </p:sp>
      <p:sp>
        <p:nvSpPr>
          <p:cNvPr id="36" name="Text 33"/>
          <p:cNvSpPr/>
          <p:nvPr/>
        </p:nvSpPr>
        <p:spPr>
          <a:xfrm>
            <a:off x="612648" y="2353437"/>
            <a:ext cx="6382512" cy="12344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state: S3 백엔드 + 락을 첫 커밋부터 적용. 초기에는 단일 state로 운영(규모상 충분)</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브랜치: main 보호 + PR 필수. PR마다 terraform plan 자동 코멘트, tfsec 보안 스캔, Infracost 비용 diff</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배포: main 머지 시 apply. 애플리케이션은 별도 워크플로로 이미지 빌드 → rollout</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k8s/ 디렉터리에 Deployment, HPA, TargetGroupBinding, ExternalSecret 매니페스트 관리</a:t>
            </a:r>
            <a:endParaRPr lang="en-US" sz="1050" dirty="0"/>
          </a:p>
        </p:txBody>
      </p:sp>
      <p:sp>
        <p:nvSpPr>
          <p:cNvPr id="37" name="Text 34"/>
          <p:cNvSpPr/>
          <p:nvPr/>
        </p:nvSpPr>
        <p:spPr>
          <a:xfrm>
            <a:off x="566928" y="3862197"/>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7.  </a:t>
            </a:r>
            <a:pPr indent="0" marL="0">
              <a:buNone/>
            </a:pPr>
            <a:r>
              <a:rPr lang="en-US" sz="1700" b="1" dirty="0">
                <a:solidFill>
                  <a:srgbClr val="FFFFFF"/>
                </a:solidFill>
                <a:latin typeface="Arial" pitchFamily="34" charset="0"/>
                <a:ea typeface="Arial" pitchFamily="34" charset="-122"/>
                <a:cs typeface="Arial" pitchFamily="34" charset="-120"/>
              </a:rPr>
              <a:t>비용 계획</a:t>
            </a:r>
            <a:endParaRPr lang="en-US" sz="1700" dirty="0"/>
          </a:p>
        </p:txBody>
      </p:sp>
      <p:sp>
        <p:nvSpPr>
          <p:cNvPr id="38" name="Text 35"/>
          <p:cNvSpPr/>
          <p:nvPr/>
        </p:nvSpPr>
        <p:spPr>
          <a:xfrm>
            <a:off x="566928" y="4337685"/>
            <a:ext cx="6428232" cy="658368"/>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"상시 가동"이 아닌 "필요할 때만 가동"을 기본 전략으로 한다. 전체 스택 기준 시간당 약 $0.5~0.6(EKS 컨트롤 플레인 + 노드 2대 + RDS Single-AZ + 엣지 계층)로, 주 20시간 작업 시 월 $50 내외를 예상한다.</a:t>
            </a:r>
            <a:endParaRPr lang="en-US" sz="1050" dirty="0"/>
          </a:p>
        </p:txBody>
      </p:sp>
      <p:sp>
        <p:nvSpPr>
          <p:cNvPr id="39" name="Text 36"/>
          <p:cNvSpPr/>
          <p:nvPr/>
        </p:nvSpPr>
        <p:spPr>
          <a:xfrm>
            <a:off x="612648" y="5087493"/>
            <a:ext cx="6382512" cy="12344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enable_ha 변수 하나로 RDS Multi-AZ / Redis 레플리카 / 삭제 보호를 일괄 제어 — 평시 off, 데모·발표 시 on</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fck-nat + ECR VPC 엔드포인트로 NAT 관련 고정비·전송비 최소화 (NAT GW 대비 월 약 $42 절감)</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AWS Budgets 예산 알람 설정, 주간 Cost Explorer 리뷰 담당 지정</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상세 견적: AWS 비용계산기 입력 시트 기반으로 [담당자] 산출 → 팀 예산 [$N/월] 확정 [ ]</a:t>
            </a:r>
            <a:endParaRPr lang="en-US" sz="1050" dirty="0"/>
          </a:p>
        </p:txBody>
      </p:sp>
      <p:sp>
        <p:nvSpPr>
          <p:cNvPr id="40" name="Text 37"/>
          <p:cNvSpPr/>
          <p:nvPr/>
        </p:nvSpPr>
        <p:spPr>
          <a:xfrm>
            <a:off x="566928" y="6596253"/>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8.  </a:t>
            </a:r>
            <a:pPr indent="0" marL="0">
              <a:buNone/>
            </a:pPr>
            <a:r>
              <a:rPr lang="en-US" sz="1700" b="1" dirty="0">
                <a:solidFill>
                  <a:srgbClr val="FFFFFF"/>
                </a:solidFill>
                <a:latin typeface="Arial" pitchFamily="34" charset="0"/>
                <a:ea typeface="Arial" pitchFamily="34" charset="-122"/>
                <a:cs typeface="Arial" pitchFamily="34" charset="-120"/>
              </a:rPr>
              <a:t>일정 (초안)</a:t>
            </a:r>
            <a:endParaRPr lang="en-US" sz="1700" dirty="0"/>
          </a:p>
        </p:txBody>
      </p:sp>
      <p:sp>
        <p:nvSpPr>
          <p:cNvPr id="41" name="Shape 38"/>
          <p:cNvSpPr/>
          <p:nvPr/>
        </p:nvSpPr>
        <p:spPr>
          <a:xfrm>
            <a:off x="566928" y="7071741"/>
            <a:ext cx="777240" cy="253060"/>
          </a:xfrm>
          <a:prstGeom prst="rect">
            <a:avLst/>
          </a:prstGeom>
          <a:solidFill>
            <a:srgbClr val="C2410C"/>
          </a:solidFill>
          <a:ln w="6350">
            <a:solidFill>
              <a:srgbClr val="4A4038"/>
            </a:solidFill>
            <a:prstDash val="solid"/>
          </a:ln>
        </p:spPr>
      </p:sp>
      <p:sp>
        <p:nvSpPr>
          <p:cNvPr id="42" name="Text 39"/>
          <p:cNvSpPr/>
          <p:nvPr/>
        </p:nvSpPr>
        <p:spPr>
          <a:xfrm>
            <a:off x="630936" y="7071741"/>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주차</a:t>
            </a:r>
            <a:endParaRPr lang="en-US" sz="950" dirty="0"/>
          </a:p>
        </p:txBody>
      </p:sp>
      <p:sp>
        <p:nvSpPr>
          <p:cNvPr id="43" name="Shape 40"/>
          <p:cNvSpPr/>
          <p:nvPr/>
        </p:nvSpPr>
        <p:spPr>
          <a:xfrm>
            <a:off x="1344168" y="7071741"/>
            <a:ext cx="1371600" cy="253060"/>
          </a:xfrm>
          <a:prstGeom prst="rect">
            <a:avLst/>
          </a:prstGeom>
          <a:solidFill>
            <a:srgbClr val="C2410C"/>
          </a:solidFill>
          <a:ln w="6350">
            <a:solidFill>
              <a:srgbClr val="4A4038"/>
            </a:solidFill>
            <a:prstDash val="solid"/>
          </a:ln>
        </p:spPr>
      </p:sp>
      <p:sp>
        <p:nvSpPr>
          <p:cNvPr id="44" name="Text 41"/>
          <p:cNvSpPr/>
          <p:nvPr/>
        </p:nvSpPr>
        <p:spPr>
          <a:xfrm>
            <a:off x="1408176" y="7071741"/>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마일스톤</a:t>
            </a:r>
            <a:endParaRPr lang="en-US" sz="950" dirty="0"/>
          </a:p>
        </p:txBody>
      </p:sp>
      <p:sp>
        <p:nvSpPr>
          <p:cNvPr id="45" name="Shape 42"/>
          <p:cNvSpPr/>
          <p:nvPr/>
        </p:nvSpPr>
        <p:spPr>
          <a:xfrm>
            <a:off x="2715768" y="7071741"/>
            <a:ext cx="4279392" cy="253060"/>
          </a:xfrm>
          <a:prstGeom prst="rect">
            <a:avLst/>
          </a:prstGeom>
          <a:solidFill>
            <a:srgbClr val="C2410C"/>
          </a:solidFill>
          <a:ln w="6350">
            <a:solidFill>
              <a:srgbClr val="4A4038"/>
            </a:solidFill>
            <a:prstDash val="solid"/>
          </a:ln>
        </p:spPr>
      </p:sp>
      <p:sp>
        <p:nvSpPr>
          <p:cNvPr id="46" name="Text 43"/>
          <p:cNvSpPr/>
          <p:nvPr/>
        </p:nvSpPr>
        <p:spPr>
          <a:xfrm>
            <a:off x="2779776" y="7071741"/>
            <a:ext cx="415137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내용</a:t>
            </a:r>
            <a:endParaRPr lang="en-US" sz="950" dirty="0"/>
          </a:p>
        </p:txBody>
      </p:sp>
      <p:sp>
        <p:nvSpPr>
          <p:cNvPr id="47" name="Shape 44"/>
          <p:cNvSpPr/>
          <p:nvPr/>
        </p:nvSpPr>
        <p:spPr>
          <a:xfrm>
            <a:off x="566928" y="7324801"/>
            <a:ext cx="777240" cy="396392"/>
          </a:xfrm>
          <a:prstGeom prst="rect">
            <a:avLst/>
          </a:prstGeom>
          <a:solidFill>
            <a:srgbClr val="3A2E24"/>
          </a:solidFill>
          <a:ln w="6350">
            <a:solidFill>
              <a:srgbClr val="4A4038"/>
            </a:solidFill>
            <a:prstDash val="solid"/>
          </a:ln>
        </p:spPr>
      </p:sp>
      <p:sp>
        <p:nvSpPr>
          <p:cNvPr id="48" name="Text 45"/>
          <p:cNvSpPr/>
          <p:nvPr/>
        </p:nvSpPr>
        <p:spPr>
          <a:xfrm>
            <a:off x="630936" y="7324801"/>
            <a:ext cx="64922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1주</a:t>
            </a:r>
            <a:endParaRPr lang="en-US" sz="950" dirty="0"/>
          </a:p>
        </p:txBody>
      </p:sp>
      <p:sp>
        <p:nvSpPr>
          <p:cNvPr id="49" name="Shape 46"/>
          <p:cNvSpPr/>
          <p:nvPr/>
        </p:nvSpPr>
        <p:spPr>
          <a:xfrm>
            <a:off x="1344168" y="7324801"/>
            <a:ext cx="1371600" cy="396392"/>
          </a:xfrm>
          <a:prstGeom prst="rect">
            <a:avLst/>
          </a:prstGeom>
          <a:solidFill>
            <a:srgbClr val="2A2420"/>
          </a:solidFill>
          <a:ln w="6350">
            <a:solidFill>
              <a:srgbClr val="4A4038"/>
            </a:solidFill>
            <a:prstDash val="solid"/>
          </a:ln>
        </p:spPr>
      </p:sp>
      <p:sp>
        <p:nvSpPr>
          <p:cNvPr id="50" name="Text 47"/>
          <p:cNvSpPr/>
          <p:nvPr/>
        </p:nvSpPr>
        <p:spPr>
          <a:xfrm>
            <a:off x="1408176" y="7324801"/>
            <a:ext cx="1243584"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기반</a:t>
            </a:r>
            <a:endParaRPr lang="en-US" sz="950" dirty="0"/>
          </a:p>
        </p:txBody>
      </p:sp>
      <p:sp>
        <p:nvSpPr>
          <p:cNvPr id="51" name="Shape 48"/>
          <p:cNvSpPr/>
          <p:nvPr/>
        </p:nvSpPr>
        <p:spPr>
          <a:xfrm>
            <a:off x="2715768" y="7324801"/>
            <a:ext cx="4279392" cy="396392"/>
          </a:xfrm>
          <a:prstGeom prst="rect">
            <a:avLst/>
          </a:prstGeom>
          <a:solidFill>
            <a:srgbClr val="2A2420"/>
          </a:solidFill>
          <a:ln w="6350">
            <a:solidFill>
              <a:srgbClr val="4A4038"/>
            </a:solidFill>
            <a:prstDash val="solid"/>
          </a:ln>
        </p:spPr>
      </p:sp>
      <p:sp>
        <p:nvSpPr>
          <p:cNvPr id="52" name="Text 49"/>
          <p:cNvSpPr/>
          <p:nvPr/>
        </p:nvSpPr>
        <p:spPr>
          <a:xfrm>
            <a:off x="2779776" y="7324801"/>
            <a:ext cx="415137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레포·S3 백엔드 셋업, 모듈 뼈대, 네트워크 + 데이터 계층 apply</a:t>
            </a:r>
            <a:endParaRPr lang="en-US" sz="950" dirty="0"/>
          </a:p>
        </p:txBody>
      </p:sp>
      <p:sp>
        <p:nvSpPr>
          <p:cNvPr id="53" name="Shape 50"/>
          <p:cNvSpPr/>
          <p:nvPr/>
        </p:nvSpPr>
        <p:spPr>
          <a:xfrm>
            <a:off x="566928" y="7721194"/>
            <a:ext cx="777240" cy="253060"/>
          </a:xfrm>
          <a:prstGeom prst="rect">
            <a:avLst/>
          </a:prstGeom>
          <a:solidFill>
            <a:srgbClr val="3A2E24"/>
          </a:solidFill>
          <a:ln w="6350">
            <a:solidFill>
              <a:srgbClr val="4A4038"/>
            </a:solidFill>
            <a:prstDash val="solid"/>
          </a:ln>
        </p:spPr>
      </p:sp>
      <p:sp>
        <p:nvSpPr>
          <p:cNvPr id="54" name="Text 51"/>
          <p:cNvSpPr/>
          <p:nvPr/>
        </p:nvSpPr>
        <p:spPr>
          <a:xfrm>
            <a:off x="630936" y="772119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2주</a:t>
            </a:r>
            <a:endParaRPr lang="en-US" sz="950" dirty="0"/>
          </a:p>
        </p:txBody>
      </p:sp>
      <p:sp>
        <p:nvSpPr>
          <p:cNvPr id="55" name="Shape 52"/>
          <p:cNvSpPr/>
          <p:nvPr/>
        </p:nvSpPr>
        <p:spPr>
          <a:xfrm>
            <a:off x="1344168" y="7721194"/>
            <a:ext cx="1371600" cy="253060"/>
          </a:xfrm>
          <a:prstGeom prst="rect">
            <a:avLst/>
          </a:prstGeom>
          <a:solidFill>
            <a:srgbClr val="2A2420"/>
          </a:solidFill>
          <a:ln w="6350">
            <a:solidFill>
              <a:srgbClr val="4A4038"/>
            </a:solidFill>
            <a:prstDash val="solid"/>
          </a:ln>
        </p:spPr>
      </p:sp>
      <p:sp>
        <p:nvSpPr>
          <p:cNvPr id="56" name="Text 53"/>
          <p:cNvSpPr/>
          <p:nvPr/>
        </p:nvSpPr>
        <p:spPr>
          <a:xfrm>
            <a:off x="1408176" y="772119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EKS</a:t>
            </a:r>
            <a:endParaRPr lang="en-US" sz="950" dirty="0"/>
          </a:p>
        </p:txBody>
      </p:sp>
      <p:sp>
        <p:nvSpPr>
          <p:cNvPr id="57" name="Shape 54"/>
          <p:cNvSpPr/>
          <p:nvPr/>
        </p:nvSpPr>
        <p:spPr>
          <a:xfrm>
            <a:off x="2715768" y="7721194"/>
            <a:ext cx="4279392" cy="253060"/>
          </a:xfrm>
          <a:prstGeom prst="rect">
            <a:avLst/>
          </a:prstGeom>
          <a:solidFill>
            <a:srgbClr val="2A2420"/>
          </a:solidFill>
          <a:ln w="6350">
            <a:solidFill>
              <a:srgbClr val="4A4038"/>
            </a:solidFill>
            <a:prstDash val="solid"/>
          </a:ln>
        </p:spPr>
      </p:sp>
      <p:sp>
        <p:nvSpPr>
          <p:cNvPr id="58" name="Text 55"/>
          <p:cNvSpPr/>
          <p:nvPr/>
        </p:nvSpPr>
        <p:spPr>
          <a:xfrm>
            <a:off x="2779776" y="772119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클러스터·노드그룹·애드온 구성, 애플리케이션 컨테이너화</a:t>
            </a:r>
            <a:endParaRPr lang="en-US" sz="950" dirty="0"/>
          </a:p>
        </p:txBody>
      </p:sp>
      <p:sp>
        <p:nvSpPr>
          <p:cNvPr id="59" name="Shape 56"/>
          <p:cNvSpPr/>
          <p:nvPr/>
        </p:nvSpPr>
        <p:spPr>
          <a:xfrm>
            <a:off x="566928" y="7974254"/>
            <a:ext cx="777240" cy="253060"/>
          </a:xfrm>
          <a:prstGeom prst="rect">
            <a:avLst/>
          </a:prstGeom>
          <a:solidFill>
            <a:srgbClr val="3A2E24"/>
          </a:solidFill>
          <a:ln w="6350">
            <a:solidFill>
              <a:srgbClr val="4A4038"/>
            </a:solidFill>
            <a:prstDash val="solid"/>
          </a:ln>
        </p:spPr>
      </p:sp>
      <p:sp>
        <p:nvSpPr>
          <p:cNvPr id="60" name="Text 57"/>
          <p:cNvSpPr/>
          <p:nvPr/>
        </p:nvSpPr>
        <p:spPr>
          <a:xfrm>
            <a:off x="630936" y="797425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3주</a:t>
            </a:r>
            <a:endParaRPr lang="en-US" sz="950" dirty="0"/>
          </a:p>
        </p:txBody>
      </p:sp>
      <p:sp>
        <p:nvSpPr>
          <p:cNvPr id="61" name="Shape 58"/>
          <p:cNvSpPr/>
          <p:nvPr/>
        </p:nvSpPr>
        <p:spPr>
          <a:xfrm>
            <a:off x="1344168" y="7974254"/>
            <a:ext cx="1371600" cy="253060"/>
          </a:xfrm>
          <a:prstGeom prst="rect">
            <a:avLst/>
          </a:prstGeom>
          <a:solidFill>
            <a:srgbClr val="2A2420"/>
          </a:solidFill>
          <a:ln w="6350">
            <a:solidFill>
              <a:srgbClr val="4A4038"/>
            </a:solidFill>
            <a:prstDash val="solid"/>
          </a:ln>
        </p:spPr>
      </p:sp>
      <p:sp>
        <p:nvSpPr>
          <p:cNvPr id="62" name="Text 59"/>
          <p:cNvSpPr/>
          <p:nvPr/>
        </p:nvSpPr>
        <p:spPr>
          <a:xfrm>
            <a:off x="1408176" y="797425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개통</a:t>
            </a:r>
            <a:endParaRPr lang="en-US" sz="950" dirty="0"/>
          </a:p>
        </p:txBody>
      </p:sp>
      <p:sp>
        <p:nvSpPr>
          <p:cNvPr id="63" name="Shape 60"/>
          <p:cNvSpPr/>
          <p:nvPr/>
        </p:nvSpPr>
        <p:spPr>
          <a:xfrm>
            <a:off x="2715768" y="7974254"/>
            <a:ext cx="4279392" cy="253060"/>
          </a:xfrm>
          <a:prstGeom prst="rect">
            <a:avLst/>
          </a:prstGeom>
          <a:solidFill>
            <a:srgbClr val="2A2420"/>
          </a:solidFill>
          <a:ln w="6350">
            <a:solidFill>
              <a:srgbClr val="4A4038"/>
            </a:solidFill>
            <a:prstDash val="solid"/>
          </a:ln>
        </p:spPr>
      </p:sp>
      <p:sp>
        <p:nvSpPr>
          <p:cNvPr id="64" name="Text 61"/>
          <p:cNvSpPr/>
          <p:nvPr/>
        </p:nvSpPr>
        <p:spPr>
          <a:xfrm>
            <a:off x="2779776" y="797425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CI/CD 파이프라인, 엣지 계층 연결, e2e 트래픽 개통</a:t>
            </a:r>
            <a:endParaRPr lang="en-US" sz="950" dirty="0"/>
          </a:p>
        </p:txBody>
      </p:sp>
      <p:sp>
        <p:nvSpPr>
          <p:cNvPr id="65" name="Shape 62"/>
          <p:cNvSpPr/>
          <p:nvPr/>
        </p:nvSpPr>
        <p:spPr>
          <a:xfrm>
            <a:off x="566928" y="8227314"/>
            <a:ext cx="777240" cy="253060"/>
          </a:xfrm>
          <a:prstGeom prst="rect">
            <a:avLst/>
          </a:prstGeom>
          <a:solidFill>
            <a:srgbClr val="3A2E24"/>
          </a:solidFill>
          <a:ln w="6350">
            <a:solidFill>
              <a:srgbClr val="4A4038"/>
            </a:solidFill>
            <a:prstDash val="solid"/>
          </a:ln>
        </p:spPr>
      </p:sp>
      <p:sp>
        <p:nvSpPr>
          <p:cNvPr id="66" name="Text 63"/>
          <p:cNvSpPr/>
          <p:nvPr/>
        </p:nvSpPr>
        <p:spPr>
          <a:xfrm>
            <a:off x="630936" y="822731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4주</a:t>
            </a:r>
            <a:endParaRPr lang="en-US" sz="950" dirty="0"/>
          </a:p>
        </p:txBody>
      </p:sp>
      <p:sp>
        <p:nvSpPr>
          <p:cNvPr id="67" name="Shape 64"/>
          <p:cNvSpPr/>
          <p:nvPr/>
        </p:nvSpPr>
        <p:spPr>
          <a:xfrm>
            <a:off x="1344168" y="8227314"/>
            <a:ext cx="1371600" cy="253060"/>
          </a:xfrm>
          <a:prstGeom prst="rect">
            <a:avLst/>
          </a:prstGeom>
          <a:solidFill>
            <a:srgbClr val="2A2420"/>
          </a:solidFill>
          <a:ln w="6350">
            <a:solidFill>
              <a:srgbClr val="4A4038"/>
            </a:solidFill>
            <a:prstDash val="solid"/>
          </a:ln>
        </p:spPr>
      </p:sp>
      <p:sp>
        <p:nvSpPr>
          <p:cNvPr id="68" name="Text 65"/>
          <p:cNvSpPr/>
          <p:nvPr/>
        </p:nvSpPr>
        <p:spPr>
          <a:xfrm>
            <a:off x="1408176" y="822731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검증</a:t>
            </a:r>
            <a:endParaRPr lang="en-US" sz="950" dirty="0"/>
          </a:p>
        </p:txBody>
      </p:sp>
      <p:sp>
        <p:nvSpPr>
          <p:cNvPr id="69" name="Shape 66"/>
          <p:cNvSpPr/>
          <p:nvPr/>
        </p:nvSpPr>
        <p:spPr>
          <a:xfrm>
            <a:off x="2715768" y="8227314"/>
            <a:ext cx="4279392" cy="253060"/>
          </a:xfrm>
          <a:prstGeom prst="rect">
            <a:avLst/>
          </a:prstGeom>
          <a:solidFill>
            <a:srgbClr val="2A2420"/>
          </a:solidFill>
          <a:ln w="6350">
            <a:solidFill>
              <a:srgbClr val="4A4038"/>
            </a:solidFill>
            <a:prstDash val="solid"/>
          </a:ln>
        </p:spPr>
      </p:sp>
      <p:sp>
        <p:nvSpPr>
          <p:cNvPr id="70" name="Text 67"/>
          <p:cNvSpPr/>
          <p:nvPr/>
        </p:nvSpPr>
        <p:spPr>
          <a:xfrm>
            <a:off x="2779776" y="822731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HPA/CA 부하 테스트, 장애 주입 테스트, 관측 대시보드</a:t>
            </a:r>
            <a:endParaRPr lang="en-US" sz="950" dirty="0"/>
          </a:p>
        </p:txBody>
      </p:sp>
      <p:sp>
        <p:nvSpPr>
          <p:cNvPr id="71" name="Shape 68"/>
          <p:cNvSpPr/>
          <p:nvPr/>
        </p:nvSpPr>
        <p:spPr>
          <a:xfrm>
            <a:off x="566928" y="8480374"/>
            <a:ext cx="777240" cy="253060"/>
          </a:xfrm>
          <a:prstGeom prst="rect">
            <a:avLst/>
          </a:prstGeom>
          <a:solidFill>
            <a:srgbClr val="3A2E24"/>
          </a:solidFill>
          <a:ln w="6350">
            <a:solidFill>
              <a:srgbClr val="4A4038"/>
            </a:solidFill>
            <a:prstDash val="solid"/>
          </a:ln>
        </p:spPr>
      </p:sp>
      <p:sp>
        <p:nvSpPr>
          <p:cNvPr id="72" name="Text 69"/>
          <p:cNvSpPr/>
          <p:nvPr/>
        </p:nvSpPr>
        <p:spPr>
          <a:xfrm>
            <a:off x="630936" y="848037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5주</a:t>
            </a:r>
            <a:endParaRPr lang="en-US" sz="950" dirty="0"/>
          </a:p>
        </p:txBody>
      </p:sp>
      <p:sp>
        <p:nvSpPr>
          <p:cNvPr id="73" name="Shape 70"/>
          <p:cNvSpPr/>
          <p:nvPr/>
        </p:nvSpPr>
        <p:spPr>
          <a:xfrm>
            <a:off x="1344168" y="8480374"/>
            <a:ext cx="1371600" cy="253060"/>
          </a:xfrm>
          <a:prstGeom prst="rect">
            <a:avLst/>
          </a:prstGeom>
          <a:solidFill>
            <a:srgbClr val="2A2420"/>
          </a:solidFill>
          <a:ln w="6350">
            <a:solidFill>
              <a:srgbClr val="4A4038"/>
            </a:solidFill>
            <a:prstDash val="solid"/>
          </a:ln>
        </p:spPr>
      </p:sp>
      <p:sp>
        <p:nvSpPr>
          <p:cNvPr id="74" name="Text 71"/>
          <p:cNvSpPr/>
          <p:nvPr/>
        </p:nvSpPr>
        <p:spPr>
          <a:xfrm>
            <a:off x="1408176" y="848037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마무리</a:t>
            </a:r>
            <a:endParaRPr lang="en-US" sz="950" dirty="0"/>
          </a:p>
        </p:txBody>
      </p:sp>
      <p:sp>
        <p:nvSpPr>
          <p:cNvPr id="75" name="Shape 72"/>
          <p:cNvSpPr/>
          <p:nvPr/>
        </p:nvSpPr>
        <p:spPr>
          <a:xfrm>
            <a:off x="2715768" y="8480374"/>
            <a:ext cx="4279392" cy="253060"/>
          </a:xfrm>
          <a:prstGeom prst="rect">
            <a:avLst/>
          </a:prstGeom>
          <a:solidFill>
            <a:srgbClr val="2A2420"/>
          </a:solidFill>
          <a:ln w="6350">
            <a:solidFill>
              <a:srgbClr val="4A4038"/>
            </a:solidFill>
            <a:prstDash val="solid"/>
          </a:ln>
        </p:spPr>
      </p:sp>
      <p:sp>
        <p:nvSpPr>
          <p:cNvPr id="76" name="Text 73"/>
          <p:cNvSpPr/>
          <p:nvPr/>
        </p:nvSpPr>
        <p:spPr>
          <a:xfrm>
            <a:off x="2779776" y="848037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문서화(ADR·트러블슈팅·다이어그램), 발표 자료, 리허설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4"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5</a:t>
            </a:r>
            <a:endParaRPr lang="en-US" sz="850" dirty="0"/>
          </a:p>
        </p:txBody>
      </p:sp>
      <p:sp>
        <p:nvSpPr>
          <p:cNvPr id="5"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9.  </a:t>
            </a:r>
            <a:pPr indent="0" marL="0">
              <a:buNone/>
            </a:pPr>
            <a:r>
              <a:rPr lang="en-US" sz="1700" b="1" dirty="0">
                <a:solidFill>
                  <a:srgbClr val="FFFFFF"/>
                </a:solidFill>
                <a:latin typeface="Arial" pitchFamily="34" charset="0"/>
                <a:ea typeface="Arial" pitchFamily="34" charset="-122"/>
                <a:cs typeface="Arial" pitchFamily="34" charset="-120"/>
              </a:rPr>
              <a:t>검증 시나리오 (발표 데모)</a:t>
            </a:r>
            <a:endParaRPr lang="en-US" sz="1700" dirty="0"/>
          </a:p>
        </p:txBody>
      </p:sp>
      <p:sp>
        <p:nvSpPr>
          <p:cNvPr id="6" name="Text 3"/>
          <p:cNvSpPr/>
          <p:nvPr/>
        </p:nvSpPr>
        <p:spPr>
          <a:xfrm>
            <a:off x="612648" y="978408"/>
            <a:ext cx="6382512" cy="137160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스케일링 실측 — k6 부하 주입 → HPA가 Pod 2→8 증설 → 노드 부족 → CA가 노드 2→4 증설. Grafana 그래프로 제시</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무중단 배포 — 배포 진행 중 초당 응답률 그래프로 rollout 전후 에러율 0 확인</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장애 주입 — 노드 1대 강제 종료 → Pod 재스케줄링 → 서비스 무영향 확인</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보안 검증 — ALB DNS 직접 호출 시 403(오리진 검증), IRSA 권한 밖 API 호출 실패 로그</a:t>
            </a:r>
            <a:endParaRPr lang="en-US" sz="1050" dirty="0"/>
          </a:p>
        </p:txBody>
      </p:sp>
      <p:sp>
        <p:nvSpPr>
          <p:cNvPr id="7" name="Text 4"/>
          <p:cNvSpPr/>
          <p:nvPr/>
        </p:nvSpPr>
        <p:spPr>
          <a:xfrm>
            <a:off x="566928" y="2624328"/>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10.  </a:t>
            </a:r>
            <a:pPr indent="0" marL="0">
              <a:buNone/>
            </a:pPr>
            <a:r>
              <a:rPr lang="en-US" sz="1700" b="1" dirty="0">
                <a:solidFill>
                  <a:srgbClr val="FFFFFF"/>
                </a:solidFill>
                <a:latin typeface="Arial" pitchFamily="34" charset="0"/>
                <a:ea typeface="Arial" pitchFamily="34" charset="-122"/>
                <a:cs typeface="Arial" pitchFamily="34" charset="-120"/>
              </a:rPr>
              <a:t>리스크</a:t>
            </a:r>
            <a:endParaRPr lang="en-US" sz="1700" dirty="0"/>
          </a:p>
        </p:txBody>
      </p:sp>
      <p:sp>
        <p:nvSpPr>
          <p:cNvPr id="8" name="Shape 5"/>
          <p:cNvSpPr/>
          <p:nvPr/>
        </p:nvSpPr>
        <p:spPr>
          <a:xfrm>
            <a:off x="566928" y="3099816"/>
            <a:ext cx="2468880" cy="253060"/>
          </a:xfrm>
          <a:prstGeom prst="rect">
            <a:avLst/>
          </a:prstGeom>
          <a:solidFill>
            <a:srgbClr val="C2410C"/>
          </a:solidFill>
          <a:ln w="6350">
            <a:solidFill>
              <a:srgbClr val="4A4038"/>
            </a:solidFill>
            <a:prstDash val="solid"/>
          </a:ln>
        </p:spPr>
      </p:sp>
      <p:sp>
        <p:nvSpPr>
          <p:cNvPr id="9" name="Text 6"/>
          <p:cNvSpPr/>
          <p:nvPr/>
        </p:nvSpPr>
        <p:spPr>
          <a:xfrm>
            <a:off x="630936" y="3099816"/>
            <a:ext cx="234086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리스크</a:t>
            </a:r>
            <a:endParaRPr lang="en-US" sz="950" dirty="0"/>
          </a:p>
        </p:txBody>
      </p:sp>
      <p:sp>
        <p:nvSpPr>
          <p:cNvPr id="10" name="Shape 7"/>
          <p:cNvSpPr/>
          <p:nvPr/>
        </p:nvSpPr>
        <p:spPr>
          <a:xfrm>
            <a:off x="3035808" y="3099816"/>
            <a:ext cx="3959352" cy="253060"/>
          </a:xfrm>
          <a:prstGeom prst="rect">
            <a:avLst/>
          </a:prstGeom>
          <a:solidFill>
            <a:srgbClr val="C2410C"/>
          </a:solidFill>
          <a:ln w="6350">
            <a:solidFill>
              <a:srgbClr val="4A4038"/>
            </a:solidFill>
            <a:prstDash val="solid"/>
          </a:ln>
        </p:spPr>
      </p:sp>
      <p:sp>
        <p:nvSpPr>
          <p:cNvPr id="11" name="Text 8"/>
          <p:cNvSpPr/>
          <p:nvPr/>
        </p:nvSpPr>
        <p:spPr>
          <a:xfrm>
            <a:off x="3099816" y="3099816"/>
            <a:ext cx="383133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대응</a:t>
            </a:r>
            <a:endParaRPr lang="en-US" sz="950" dirty="0"/>
          </a:p>
        </p:txBody>
      </p:sp>
      <p:sp>
        <p:nvSpPr>
          <p:cNvPr id="12" name="Shape 9"/>
          <p:cNvSpPr/>
          <p:nvPr/>
        </p:nvSpPr>
        <p:spPr>
          <a:xfrm>
            <a:off x="566928" y="3352876"/>
            <a:ext cx="2468880" cy="396392"/>
          </a:xfrm>
          <a:prstGeom prst="rect">
            <a:avLst/>
          </a:prstGeom>
          <a:solidFill>
            <a:srgbClr val="3A2E24"/>
          </a:solidFill>
          <a:ln w="6350">
            <a:solidFill>
              <a:srgbClr val="4A4038"/>
            </a:solidFill>
            <a:prstDash val="solid"/>
          </a:ln>
        </p:spPr>
      </p:sp>
      <p:sp>
        <p:nvSpPr>
          <p:cNvPr id="13" name="Text 10"/>
          <p:cNvSpPr/>
          <p:nvPr/>
        </p:nvSpPr>
        <p:spPr>
          <a:xfrm>
            <a:off x="630936" y="3352876"/>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K8s 학습 곡선으로 일정 지연</a:t>
            </a:r>
            <a:endParaRPr lang="en-US" sz="950" dirty="0"/>
          </a:p>
        </p:txBody>
      </p:sp>
      <p:sp>
        <p:nvSpPr>
          <p:cNvPr id="14" name="Shape 11"/>
          <p:cNvSpPr/>
          <p:nvPr/>
        </p:nvSpPr>
        <p:spPr>
          <a:xfrm>
            <a:off x="3035808" y="3352876"/>
            <a:ext cx="3959352" cy="396392"/>
          </a:xfrm>
          <a:prstGeom prst="rect">
            <a:avLst/>
          </a:prstGeom>
          <a:solidFill>
            <a:srgbClr val="2A2420"/>
          </a:solidFill>
          <a:ln w="6350">
            <a:solidFill>
              <a:srgbClr val="4A4038"/>
            </a:solidFill>
            <a:prstDash val="solid"/>
          </a:ln>
        </p:spPr>
      </p:sp>
      <p:sp>
        <p:nvSpPr>
          <p:cNvPr id="15" name="Text 12"/>
          <p:cNvSpPr/>
          <p:nvPr/>
        </p:nvSpPr>
        <p:spPr>
          <a:xfrm>
            <a:off x="3099816" y="3352876"/>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1~2주차 로컬 kind/minikube 병행 학습, 모듈 담당과 K8s 담당 분리</a:t>
            </a:r>
            <a:endParaRPr lang="en-US" sz="950" dirty="0"/>
          </a:p>
        </p:txBody>
      </p:sp>
      <p:sp>
        <p:nvSpPr>
          <p:cNvPr id="16" name="Shape 13"/>
          <p:cNvSpPr/>
          <p:nvPr/>
        </p:nvSpPr>
        <p:spPr>
          <a:xfrm>
            <a:off x="566928" y="3749269"/>
            <a:ext cx="2468880" cy="396392"/>
          </a:xfrm>
          <a:prstGeom prst="rect">
            <a:avLst/>
          </a:prstGeom>
          <a:solidFill>
            <a:srgbClr val="3A2E24"/>
          </a:solidFill>
          <a:ln w="6350">
            <a:solidFill>
              <a:srgbClr val="4A4038"/>
            </a:solidFill>
            <a:prstDash val="solid"/>
          </a:ln>
        </p:spPr>
      </p:sp>
      <p:sp>
        <p:nvSpPr>
          <p:cNvPr id="17" name="Text 14"/>
          <p:cNvSpPr/>
          <p:nvPr/>
        </p:nvSpPr>
        <p:spPr>
          <a:xfrm>
            <a:off x="630936" y="3749269"/>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비용 초과</a:t>
            </a:r>
            <a:endParaRPr lang="en-US" sz="950" dirty="0"/>
          </a:p>
        </p:txBody>
      </p:sp>
      <p:sp>
        <p:nvSpPr>
          <p:cNvPr id="18" name="Shape 15"/>
          <p:cNvSpPr/>
          <p:nvPr/>
        </p:nvSpPr>
        <p:spPr>
          <a:xfrm>
            <a:off x="3035808" y="3749269"/>
            <a:ext cx="3959352" cy="396392"/>
          </a:xfrm>
          <a:prstGeom prst="rect">
            <a:avLst/>
          </a:prstGeom>
          <a:solidFill>
            <a:srgbClr val="2A2420"/>
          </a:solidFill>
          <a:ln w="6350">
            <a:solidFill>
              <a:srgbClr val="4A4038"/>
            </a:solidFill>
            <a:prstDash val="solid"/>
          </a:ln>
        </p:spPr>
      </p:sp>
      <p:sp>
        <p:nvSpPr>
          <p:cNvPr id="19" name="Text 16"/>
          <p:cNvSpPr/>
          <p:nvPr/>
        </p:nvSpPr>
        <p:spPr>
          <a:xfrm>
            <a:off x="3099816" y="3749269"/>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Budgets 예산 알람 + 주간 Cost Explorer 리뷰 담당 지정</a:t>
            </a:r>
            <a:endParaRPr lang="en-US" sz="950" dirty="0"/>
          </a:p>
        </p:txBody>
      </p:sp>
      <p:sp>
        <p:nvSpPr>
          <p:cNvPr id="20" name="Shape 17"/>
          <p:cNvSpPr/>
          <p:nvPr/>
        </p:nvSpPr>
        <p:spPr>
          <a:xfrm>
            <a:off x="566928" y="4145661"/>
            <a:ext cx="2468880" cy="253060"/>
          </a:xfrm>
          <a:prstGeom prst="rect">
            <a:avLst/>
          </a:prstGeom>
          <a:solidFill>
            <a:srgbClr val="3A2E24"/>
          </a:solidFill>
          <a:ln w="6350">
            <a:solidFill>
              <a:srgbClr val="4A4038"/>
            </a:solidFill>
            <a:prstDash val="solid"/>
          </a:ln>
        </p:spPr>
      </p:sp>
      <p:sp>
        <p:nvSpPr>
          <p:cNvPr id="21" name="Text 18"/>
          <p:cNvSpPr/>
          <p:nvPr/>
        </p:nvSpPr>
        <p:spPr>
          <a:xfrm>
            <a:off x="630936" y="4145661"/>
            <a:ext cx="234086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팀원 간 Terraform 충돌</a:t>
            </a:r>
            <a:endParaRPr lang="en-US" sz="950" dirty="0"/>
          </a:p>
        </p:txBody>
      </p:sp>
      <p:sp>
        <p:nvSpPr>
          <p:cNvPr id="22" name="Shape 19"/>
          <p:cNvSpPr/>
          <p:nvPr/>
        </p:nvSpPr>
        <p:spPr>
          <a:xfrm>
            <a:off x="3035808" y="4145661"/>
            <a:ext cx="3959352" cy="253060"/>
          </a:xfrm>
          <a:prstGeom prst="rect">
            <a:avLst/>
          </a:prstGeom>
          <a:solidFill>
            <a:srgbClr val="2A2420"/>
          </a:solidFill>
          <a:ln w="6350">
            <a:solidFill>
              <a:srgbClr val="4A4038"/>
            </a:solidFill>
            <a:prstDash val="solid"/>
          </a:ln>
        </p:spPr>
      </p:sp>
      <p:sp>
        <p:nvSpPr>
          <p:cNvPr id="23" name="Text 20"/>
          <p:cNvSpPr/>
          <p:nvPr/>
        </p:nvSpPr>
        <p:spPr>
          <a:xfrm>
            <a:off x="3099816" y="4145661"/>
            <a:ext cx="383133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S3 백엔드 + PR plan 필수로 구조적 방지</a:t>
            </a:r>
            <a:endParaRPr lang="en-US" sz="950" dirty="0"/>
          </a:p>
        </p:txBody>
      </p:sp>
      <p:sp>
        <p:nvSpPr>
          <p:cNvPr id="24" name="Shape 21"/>
          <p:cNvSpPr/>
          <p:nvPr/>
        </p:nvSpPr>
        <p:spPr>
          <a:xfrm>
            <a:off x="566928" y="4398721"/>
            <a:ext cx="2468880" cy="396392"/>
          </a:xfrm>
          <a:prstGeom prst="rect">
            <a:avLst/>
          </a:prstGeom>
          <a:solidFill>
            <a:srgbClr val="3A2E24"/>
          </a:solidFill>
          <a:ln w="6350">
            <a:solidFill>
              <a:srgbClr val="4A4038"/>
            </a:solidFill>
            <a:prstDash val="solid"/>
          </a:ln>
        </p:spPr>
      </p:sp>
      <p:sp>
        <p:nvSpPr>
          <p:cNvPr id="25" name="Text 22"/>
          <p:cNvSpPr/>
          <p:nvPr/>
        </p:nvSpPr>
        <p:spPr>
          <a:xfrm>
            <a:off x="630936" y="4398721"/>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destroy/apply 반복 시 데이터 유실</a:t>
            </a:r>
            <a:endParaRPr lang="en-US" sz="950" dirty="0"/>
          </a:p>
        </p:txBody>
      </p:sp>
      <p:sp>
        <p:nvSpPr>
          <p:cNvPr id="26" name="Shape 23"/>
          <p:cNvSpPr/>
          <p:nvPr/>
        </p:nvSpPr>
        <p:spPr>
          <a:xfrm>
            <a:off x="3035808" y="4398721"/>
            <a:ext cx="3959352" cy="396392"/>
          </a:xfrm>
          <a:prstGeom prst="rect">
            <a:avLst/>
          </a:prstGeom>
          <a:solidFill>
            <a:srgbClr val="2A2420"/>
          </a:solidFill>
          <a:ln w="6350">
            <a:solidFill>
              <a:srgbClr val="4A4038"/>
            </a:solidFill>
            <a:prstDash val="solid"/>
          </a:ln>
        </p:spPr>
      </p:sp>
      <p:sp>
        <p:nvSpPr>
          <p:cNvPr id="27" name="Text 24"/>
          <p:cNvSpPr/>
          <p:nvPr/>
        </p:nvSpPr>
        <p:spPr>
          <a:xfrm>
            <a:off x="3099816" y="4398721"/>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스냅샷 복원 시드 절차 문서화</a:t>
            </a:r>
            <a:endParaRPr lang="en-US" sz="950" dirty="0"/>
          </a:p>
        </p:txBody>
      </p:sp>
      <p:sp>
        <p:nvSpPr>
          <p:cNvPr id="28" name="Text 25"/>
          <p:cNvSpPr/>
          <p:nvPr/>
        </p:nvSpPr>
        <p:spPr>
          <a:xfrm>
            <a:off x="566928" y="4996282"/>
            <a:ext cx="6428232" cy="502920"/>
          </a:xfrm>
          <a:prstGeom prst="rect">
            <a:avLst/>
          </a:prstGeom>
          <a:noFill/>
          <a:ln/>
        </p:spPr>
        <p:txBody>
          <a:bodyPr wrap="square" lIns="0" tIns="0" rIns="0" bIns="0" rtlCol="0" anchor="t"/>
          <a:lstStyle/>
          <a:p>
            <a:pPr indent="0" marL="0">
              <a:lnSpc>
                <a:spcPct val="122000"/>
              </a:lnSpc>
              <a:buNone/>
            </a:pPr>
            <a:r>
              <a:rPr lang="en-US" sz="950" i="1" dirty="0">
                <a:solidFill>
                  <a:srgbClr val="BDB2A7"/>
                </a:solidFill>
                <a:latin typeface="Arial" pitchFamily="34" charset="0"/>
                <a:ea typeface="Arial" pitchFamily="34" charset="-122"/>
                <a:cs typeface="Arial" pitchFamily="34" charset="-120"/>
              </a:rPr>
              <a:t>다음 버전에서 확정할 것: 서비스명·기능 범위, 팀 역할 분배, DR 포함 여부, 관측 스택(Grafana 여부), 예산 상한. 예상 장애 대응은 별첨 「트러블슈팅 로그」 R-01~08을 참조한다.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9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88" cy="10689336"/>
          </a:xfrm>
          <a:prstGeom prst="rect">
            <a:avLst/>
          </a:prstGeom>
        </p:spPr>
      </p:pic>
      <p:sp>
        <p:nvSpPr>
          <p:cNvPr id="3"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4"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6</a:t>
            </a:r>
            <a:endParaRPr lang="en-US" sz="850" dirty="0"/>
          </a:p>
        </p:txBody>
      </p:sp>
      <p:sp>
        <p:nvSpPr>
          <p:cNvPr id="5"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부록 A.  </a:t>
            </a:r>
            <a:pPr indent="0" marL="0">
              <a:buNone/>
            </a:pPr>
            <a:r>
              <a:rPr lang="en-US" sz="1700" b="1" dirty="0">
                <a:solidFill>
                  <a:srgbClr val="FFFFFF"/>
                </a:solidFill>
                <a:latin typeface="Arial" pitchFamily="34" charset="0"/>
                <a:ea typeface="Arial" pitchFamily="34" charset="-122"/>
                <a:cs typeface="Arial" pitchFamily="34" charset="-120"/>
              </a:rPr>
              <a:t>참조 아키텍처 (2차 프로젝트)</a:t>
            </a:r>
            <a:endParaRPr lang="en-US" sz="1700" dirty="0"/>
          </a:p>
        </p:txBody>
      </p:sp>
      <p:sp>
        <p:nvSpPr>
          <p:cNvPr id="6" name="Text 3"/>
          <p:cNvSpPr/>
          <p:nvPr/>
        </p:nvSpPr>
        <p:spPr>
          <a:xfrm>
            <a:off x="566928" y="978408"/>
            <a:ext cx="6428232" cy="566928"/>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아래는 설계 배경(3장)에서 언급한 2차 프로젝트의 아키텍처다. 본 프로젝트의 네트워크·엣지·데이터 계층 패턴의 출처이며, 컴퓨트 계층(EC2 ASG)과 배포(CodeDeploy)는 본 프로젝트에서 EKS 기반으로 대체된다.</a:t>
            </a:r>
            <a:endParaRPr lang="en-US" sz="950" dirty="0"/>
          </a:p>
        </p:txBody>
      </p:sp>
      <p:sp>
        <p:nvSpPr>
          <p:cNvPr id="7" name="Shape 4"/>
          <p:cNvSpPr/>
          <p:nvPr/>
        </p:nvSpPr>
        <p:spPr>
          <a:xfrm>
            <a:off x="300881" y="1636776"/>
            <a:ext cx="6960326" cy="7863840"/>
          </a:xfrm>
          <a:prstGeom prst="roundRect">
            <a:avLst>
              <a:gd name="adj" fmla="val 788"/>
            </a:avLst>
          </a:prstGeom>
          <a:solidFill>
            <a:srgbClr val="FFFFFF"/>
          </a:solidFill>
          <a:ln/>
        </p:spPr>
      </p:sp>
      <p:pic>
        <p:nvPicPr>
          <p:cNvPr id="8" name="Image 1" descr="/home/claude/arch_full.png">    </p:cNvPr>
          <p:cNvPicPr>
            <a:picLocks noChangeAspect="1"/>
          </p:cNvPicPr>
          <p:nvPr/>
        </p:nvPicPr>
        <p:blipFill>
          <a:blip r:embed="rId2"/>
          <a:stretch>
            <a:fillRect/>
          </a:stretch>
        </p:blipFill>
        <p:spPr>
          <a:xfrm>
            <a:off x="438041" y="1773936"/>
            <a:ext cx="6686006" cy="7589520"/>
          </a:xfrm>
          <a:prstGeom prst="rect">
            <a:avLst/>
          </a:prstGeom>
        </p:spPr>
      </p:pic>
      <p:sp>
        <p:nvSpPr>
          <p:cNvPr id="9" name="Text 5"/>
          <p:cNvSpPr/>
          <p:nvPr/>
        </p:nvSpPr>
        <p:spPr>
          <a:xfrm>
            <a:off x="566928" y="9637776"/>
            <a:ext cx="6428232" cy="256032"/>
          </a:xfrm>
          <a:prstGeom prst="rect">
            <a:avLst/>
          </a:prstGeom>
          <a:noFill/>
          <a:ln/>
        </p:spPr>
        <p:txBody>
          <a:bodyPr wrap="square" lIns="0" tIns="0" rIns="0" bIns="0" rtlCol="0" anchor="ctr"/>
          <a:lstStyle/>
          <a:p>
            <a:pPr algn="ctr" indent="0" marL="0">
              <a:buNone/>
            </a:pPr>
            <a:r>
              <a:rPr lang="en-US" sz="900" i="1" dirty="0">
                <a:solidFill>
                  <a:srgbClr val="BDB2A7"/>
                </a:solidFill>
                <a:latin typeface="Arial" pitchFamily="34" charset="0"/>
                <a:ea typeface="Arial" pitchFamily="34" charset="-122"/>
                <a:cs typeface="Arial" pitchFamily="34" charset="-120"/>
              </a:rPr>
              <a:t>그림 A-1. 2차 프로젝트(CARE) 아키텍처 — draw.io 원본</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[서비스명] 3차 프로젝트 설계 보고서</dc:title>
  <dc:subject>PptxGenJS Presentation</dc:subject>
  <dc:creator>PptxGenJS</dc:creator>
  <cp:lastModifiedBy>PptxGenJS</cp:lastModifiedBy>
  <cp:revision>1</cp:revision>
  <dcterms:created xsi:type="dcterms:W3CDTF">2026-07-06T00:13:23Z</dcterms:created>
  <dcterms:modified xsi:type="dcterms:W3CDTF">2026-07-06T00:13:23Z</dcterms:modified>
</cp:coreProperties>
</file>